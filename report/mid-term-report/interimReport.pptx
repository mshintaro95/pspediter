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1" r:id="rId1"/>
  </p:sldMasterIdLst>
  <p:notesMasterIdLst>
    <p:notesMasterId r:id="rId30"/>
  </p:notesMasterIdLst>
  <p:sldIdLst>
    <p:sldId id="256" r:id="rId2"/>
    <p:sldId id="329" r:id="rId3"/>
    <p:sldId id="347" r:id="rId4"/>
    <p:sldId id="331" r:id="rId5"/>
    <p:sldId id="348" r:id="rId6"/>
    <p:sldId id="354" r:id="rId7"/>
    <p:sldId id="337" r:id="rId8"/>
    <p:sldId id="349" r:id="rId9"/>
    <p:sldId id="338" r:id="rId10"/>
    <p:sldId id="350" r:id="rId11"/>
    <p:sldId id="355" r:id="rId12"/>
    <p:sldId id="339" r:id="rId13"/>
    <p:sldId id="351" r:id="rId14"/>
    <p:sldId id="356" r:id="rId15"/>
    <p:sldId id="340" r:id="rId16"/>
    <p:sldId id="352" r:id="rId17"/>
    <p:sldId id="333" r:id="rId18"/>
    <p:sldId id="353" r:id="rId19"/>
    <p:sldId id="334" r:id="rId20"/>
    <p:sldId id="335" r:id="rId21"/>
    <p:sldId id="341" r:id="rId22"/>
    <p:sldId id="342" r:id="rId23"/>
    <p:sldId id="343" r:id="rId24"/>
    <p:sldId id="344" r:id="rId25"/>
    <p:sldId id="357" r:id="rId26"/>
    <p:sldId id="336" r:id="rId27"/>
    <p:sldId id="345" r:id="rId28"/>
    <p:sldId id="346" r:id="rId29"/>
  </p:sldIdLst>
  <p:sldSz cx="9144000" cy="6858000" type="screen4x3"/>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DF2FF"/>
    <a:srgbClr val="CC0000"/>
    <a:srgbClr val="005EA4"/>
    <a:srgbClr val="2DA5FF"/>
    <a:srgbClr val="FF8585"/>
    <a:srgbClr val="FF2D2D"/>
    <a:srgbClr val="0088EE"/>
    <a:srgbClr val="1003BD"/>
    <a:srgbClr val="FFF0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95" autoAdjust="0"/>
    <p:restoredTop sz="92923" autoAdjust="0"/>
  </p:normalViewPr>
  <p:slideViewPr>
    <p:cSldViewPr snapToGrid="0">
      <p:cViewPr varScale="1">
        <p:scale>
          <a:sx n="66" d="100"/>
          <a:sy n="66" d="100"/>
        </p:scale>
        <p:origin x="1232" y="32"/>
      </p:cViewPr>
      <p:guideLst/>
    </p:cSldViewPr>
  </p:slideViewPr>
  <p:notesTextViewPr>
    <p:cViewPr>
      <p:scale>
        <a:sx n="1" d="1"/>
        <a:sy n="1" d="1"/>
      </p:scale>
      <p:origin x="0" y="0"/>
    </p:cViewPr>
  </p:notesTextViewPr>
  <p:sorterViewPr>
    <p:cViewPr>
      <p:scale>
        <a:sx n="100" d="100"/>
        <a:sy n="100" d="100"/>
      </p:scale>
      <p:origin x="0" y="-82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kumimoji="1" lang="ja-JP" altLang="en-US"/>
          </a:p>
        </p:txBody>
      </p:sp>
      <p:sp>
        <p:nvSpPr>
          <p:cNvPr id="3" name="日付プレースホルダー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B303419E-9CC9-4F93-9506-4D97B27D36EE}" type="datetimeFigureOut">
              <a:rPr kumimoji="1" lang="ja-JP" altLang="en-US" smtClean="0"/>
              <a:t>2025/6/30</a:t>
            </a:fld>
            <a:endParaRPr kumimoji="1" lang="ja-JP" altLang="en-US"/>
          </a:p>
        </p:txBody>
      </p:sp>
      <p:sp>
        <p:nvSpPr>
          <p:cNvPr id="4" name="スライド イメージ プレースホルダー 3"/>
          <p:cNvSpPr>
            <a:spLocks noGrp="1" noRot="1" noChangeAspect="1"/>
          </p:cNvSpPr>
          <p:nvPr>
            <p:ph type="sldImg" idx="2"/>
          </p:nvPr>
        </p:nvSpPr>
        <p:spPr>
          <a:xfrm>
            <a:off x="1249363" y="1279525"/>
            <a:ext cx="4605337" cy="3454400"/>
          </a:xfrm>
          <a:prstGeom prst="rect">
            <a:avLst/>
          </a:prstGeom>
          <a:noFill/>
          <a:ln w="12700">
            <a:solidFill>
              <a:prstClr val="black"/>
            </a:solidFill>
          </a:ln>
        </p:spPr>
        <p:txBody>
          <a:bodyPr vert="horz" lIns="99075" tIns="49538" rIns="99075" bIns="49538" rtlCol="0" anchor="ctr"/>
          <a:lstStyle/>
          <a:p>
            <a:endParaRPr lang="ja-JP" altLang="en-US"/>
          </a:p>
        </p:txBody>
      </p:sp>
      <p:sp>
        <p:nvSpPr>
          <p:cNvPr id="5" name="ノート プレースホルダー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kumimoji="1" lang="ja-JP" altLang="en-US"/>
          </a:p>
        </p:txBody>
      </p:sp>
      <p:sp>
        <p:nvSpPr>
          <p:cNvPr id="7" name="スライド番号プレースホルダー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5887258F-884F-4CAB-AFB0-F72C17DE8910}" type="slidenum">
              <a:rPr kumimoji="1" lang="ja-JP" altLang="en-US" smtClean="0"/>
              <a:t>‹#›</a:t>
            </a:fld>
            <a:endParaRPr kumimoji="1" lang="ja-JP" altLang="en-US"/>
          </a:p>
        </p:txBody>
      </p:sp>
    </p:spTree>
    <p:extLst>
      <p:ext uri="{BB962C8B-B14F-4D97-AF65-F5344CB8AC3E}">
        <p14:creationId xmlns:p14="http://schemas.microsoft.com/office/powerpoint/2010/main" val="32685579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荷繰り削減のためのコンテナ搬出日予測システム開発について、わたくし三留が発表します。</a:t>
            </a:r>
          </a:p>
        </p:txBody>
      </p:sp>
      <p:sp>
        <p:nvSpPr>
          <p:cNvPr id="4" name="スライド番号プレースホルダー 3"/>
          <p:cNvSpPr>
            <a:spLocks noGrp="1"/>
          </p:cNvSpPr>
          <p:nvPr>
            <p:ph type="sldNum" sz="quarter" idx="5"/>
          </p:nvPr>
        </p:nvSpPr>
        <p:spPr/>
        <p:txBody>
          <a:bodyPr/>
          <a:lstStyle/>
          <a:p>
            <a:fld id="{5887258F-884F-4CAB-AFB0-F72C17DE8910}" type="slidenum">
              <a:rPr kumimoji="1" lang="ja-JP" altLang="en-US" smtClean="0"/>
              <a:t>1</a:t>
            </a:fld>
            <a:endParaRPr kumimoji="1" lang="ja-JP" altLang="en-US"/>
          </a:p>
        </p:txBody>
      </p:sp>
    </p:spTree>
    <p:extLst>
      <p:ext uri="{BB962C8B-B14F-4D97-AF65-F5344CB8AC3E}">
        <p14:creationId xmlns:p14="http://schemas.microsoft.com/office/powerpoint/2010/main" val="483715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2947923"/>
          </a:xfrm>
        </p:spPr>
        <p:txBody>
          <a:bodyPr anchor="b">
            <a:normAutofit/>
          </a:bodyPr>
          <a:lstStyle>
            <a:lvl1pPr algn="l">
              <a:lnSpc>
                <a:spcPct val="85000"/>
              </a:lnSpc>
              <a:defRPr sz="4800" spc="-50" baseline="0">
                <a:solidFill>
                  <a:schemeClr val="tx1">
                    <a:lumMod val="85000"/>
                    <a:lumOff val="15000"/>
                  </a:schemeClr>
                </a:solidFill>
                <a:latin typeface="UD デジタル 教科書体 NK-R" panose="02020400000000000000" pitchFamily="18" charset="-128"/>
                <a:ea typeface="UD デジタル 教科書体 NK-R" panose="02020400000000000000" pitchFamily="18" charset="-128"/>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UD デジタル 教科書体 NK-R" panose="02020400000000000000" pitchFamily="18" charset="-128"/>
                <a:ea typeface="UD デジタル 教科書体 NK-R" panose="02020400000000000000" pitchFamily="18" charset="-128"/>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dirty="0"/>
              <a:t>マスター サブタイトルの書式設定</a:t>
            </a:r>
            <a:endParaRPr lang="en-US" dirty="0"/>
          </a:p>
        </p:txBody>
      </p:sp>
      <p:sp>
        <p:nvSpPr>
          <p:cNvPr id="4" name="Date Placeholder 3"/>
          <p:cNvSpPr>
            <a:spLocks noGrp="1"/>
          </p:cNvSpPr>
          <p:nvPr>
            <p:ph type="dt" sz="half" idx="10"/>
          </p:nvPr>
        </p:nvSpPr>
        <p:spPr/>
        <p:txBody>
          <a:bodyPr/>
          <a:lstStyle/>
          <a:p>
            <a:fld id="{0DDA8158-9E3C-41F9-A7ED-19AF0ECBFDBF}" type="datetime1">
              <a:rPr kumimoji="1" lang="ja-JP" altLang="en-US" smtClean="0"/>
              <a:t>2025/6/30</a:t>
            </a:fld>
            <a:endParaRPr kumimoji="1" lang="ja-JP" altLang="en-US"/>
          </a:p>
        </p:txBody>
      </p:sp>
      <p:sp>
        <p:nvSpPr>
          <p:cNvPr id="5" name="Footer Placeholder 4"/>
          <p:cNvSpPr>
            <a:spLocks noGrp="1"/>
          </p:cNvSpPr>
          <p:nvPr>
            <p:ph type="ftr" sz="quarter" idx="11"/>
          </p:nvPr>
        </p:nvSpPr>
        <p:spPr/>
        <p:txBody>
          <a:bodyPr/>
          <a:lstStyle/>
          <a:p>
            <a:endParaRPr kumimoji="1" lang="ja-JP" altLang="en-US" dirty="0"/>
          </a:p>
        </p:txBody>
      </p:sp>
      <p:sp>
        <p:nvSpPr>
          <p:cNvPr id="6" name="Slide Number Placeholder 5"/>
          <p:cNvSpPr>
            <a:spLocks noGrp="1"/>
          </p:cNvSpPr>
          <p:nvPr>
            <p:ph type="sldNum" sz="quarter" idx="12"/>
          </p:nvPr>
        </p:nvSpPr>
        <p:spPr/>
        <p:txBody>
          <a:bodyPr/>
          <a:lstStyle/>
          <a:p>
            <a:fld id="{19A2C8B9-04F9-4575-A401-B86E4A91B12C}" type="slidenum">
              <a:rPr kumimoji="1" lang="ja-JP" altLang="en-US" smtClean="0"/>
              <a:pPr/>
              <a:t>‹#›</a:t>
            </a:fld>
            <a:endParaRPr kumimoji="1" lang="ja-JP"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7468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lvl1pPr marL="457200" indent="-457200">
              <a:buFont typeface="Arial" panose="020B0604020202020204" pitchFamily="34" charset="0"/>
              <a:buChar char="•"/>
              <a:defRPr sz="2800">
                <a:solidFill>
                  <a:schemeClr val="tx1"/>
                </a:solidFill>
                <a:latin typeface="UD デジタル 教科書体 NK-R" panose="02020400000000000000" pitchFamily="18" charset="-128"/>
                <a:ea typeface="UD デジタル 教科書体 NK-R" panose="02020400000000000000" pitchFamily="18" charset="-128"/>
              </a:defRPr>
            </a:lvl1pPr>
            <a:lvl2pPr marL="544068" indent="-342900">
              <a:buClr>
                <a:schemeClr val="tx1"/>
              </a:buClr>
              <a:buFont typeface="Arial" panose="020B0604020202020204" pitchFamily="34" charset="0"/>
              <a:buChar char="•"/>
              <a:defRPr sz="2400">
                <a:solidFill>
                  <a:schemeClr val="tx1"/>
                </a:solidFill>
                <a:latin typeface="UD デジタル 教科書体 NK-R" panose="02020400000000000000" pitchFamily="18" charset="-128"/>
                <a:ea typeface="UD デジタル 教科書体 NK-R" panose="02020400000000000000" pitchFamily="18" charset="-128"/>
              </a:defRPr>
            </a:lvl2pPr>
            <a:lvl3pPr marL="726948" indent="-342900">
              <a:buClr>
                <a:schemeClr val="tx1"/>
              </a:buClr>
              <a:buFont typeface="Arial" panose="020B0604020202020204" pitchFamily="34" charset="0"/>
              <a:buChar char="•"/>
              <a:defRPr sz="2000">
                <a:solidFill>
                  <a:schemeClr val="tx1"/>
                </a:solidFill>
                <a:latin typeface="UD デジタル 教科書体 NK-R" panose="02020400000000000000" pitchFamily="18" charset="-128"/>
                <a:ea typeface="UD デジタル 教科書体 NK-R" panose="02020400000000000000" pitchFamily="18" charset="-128"/>
              </a:defRPr>
            </a:lvl3pPr>
            <a:lvl4pPr marL="852678" indent="-285750">
              <a:buClr>
                <a:schemeClr val="tx1"/>
              </a:buClr>
              <a:buFont typeface="Arial" panose="020B0604020202020204" pitchFamily="34" charset="0"/>
              <a:buChar char="•"/>
              <a:defRPr sz="1800">
                <a:solidFill>
                  <a:schemeClr val="tx1"/>
                </a:solidFill>
                <a:latin typeface="UD デジタル 教科書体 NK-R" panose="02020400000000000000" pitchFamily="18" charset="-128"/>
                <a:ea typeface="UD デジタル 教科書体 NK-R" panose="02020400000000000000" pitchFamily="18" charset="-128"/>
              </a:defRPr>
            </a:lvl4pPr>
            <a:lvl5pPr marL="1035558" indent="-285750">
              <a:buClr>
                <a:schemeClr val="tx1"/>
              </a:buClr>
              <a:buFont typeface="Arial" panose="020B0604020202020204" pitchFamily="34" charset="0"/>
              <a:buChar char="•"/>
              <a:defRPr>
                <a:solidFill>
                  <a:schemeClr val="tx1"/>
                </a:solidFill>
                <a:latin typeface="UD デジタル 教科書体 NK-R" panose="02020400000000000000" pitchFamily="18" charset="-128"/>
                <a:ea typeface="UD デジタル 教科書体 NK-R" panose="02020400000000000000" pitchFamily="18"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Footer Placeholder 4"/>
          <p:cNvSpPr>
            <a:spLocks noGrp="1"/>
          </p:cNvSpPr>
          <p:nvPr>
            <p:ph type="ftr" sz="quarter" idx="11"/>
          </p:nvPr>
        </p:nvSpPr>
        <p:spPr/>
        <p:txBody>
          <a:bodyPr/>
          <a:lstStyle/>
          <a:p>
            <a:endParaRPr kumimoji="1" lang="ja-JP" altLang="en-US" dirty="0"/>
          </a:p>
        </p:txBody>
      </p:sp>
      <p:sp>
        <p:nvSpPr>
          <p:cNvPr id="6" name="Slide Number Placeholder 5"/>
          <p:cNvSpPr>
            <a:spLocks noGrp="1"/>
          </p:cNvSpPr>
          <p:nvPr>
            <p:ph type="sldNum" sz="quarter" idx="12"/>
          </p:nvPr>
        </p:nvSpPr>
        <p:spPr/>
        <p:txBody>
          <a:bodyPr/>
          <a:lstStyle/>
          <a:p>
            <a:fld id="{19A2C8B9-04F9-4575-A401-B86E4A91B12C}" type="slidenum">
              <a:rPr kumimoji="1" lang="ja-JP" altLang="en-US" smtClean="0"/>
              <a:pPr/>
              <a:t>‹#›</a:t>
            </a:fld>
            <a:endParaRPr kumimoji="1" lang="ja-JP" altLang="en-US"/>
          </a:p>
        </p:txBody>
      </p:sp>
    </p:spTree>
    <p:extLst>
      <p:ext uri="{BB962C8B-B14F-4D97-AF65-F5344CB8AC3E}">
        <p14:creationId xmlns:p14="http://schemas.microsoft.com/office/powerpoint/2010/main" val="2261632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UD デジタル 教科書体 NK-R" panose="02020400000000000000" pitchFamily="18" charset="-128"/>
                <a:ea typeface="UD デジタル 教科書体 NK-R" panose="02020400000000000000" pitchFamily="18" charset="-128"/>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dirty="0"/>
              <a:t>マスター テキストの書式設定</a:t>
            </a:r>
          </a:p>
        </p:txBody>
      </p:sp>
      <p:sp>
        <p:nvSpPr>
          <p:cNvPr id="4" name="Date Placeholder 3"/>
          <p:cNvSpPr>
            <a:spLocks noGrp="1"/>
          </p:cNvSpPr>
          <p:nvPr>
            <p:ph type="dt" sz="half" idx="10"/>
          </p:nvPr>
        </p:nvSpPr>
        <p:spPr/>
        <p:txBody>
          <a:bodyPr/>
          <a:lstStyle/>
          <a:p>
            <a:fld id="{9D03B4E9-9B65-46D0-A3F6-62B9C63FCAC1}" type="datetime1">
              <a:rPr kumimoji="1" lang="ja-JP" altLang="en-US" smtClean="0"/>
              <a:t>2025/6/30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19A2C8B9-04F9-4575-A401-B86E4A91B12C}" type="slidenum">
              <a:rPr kumimoji="1" lang="ja-JP" altLang="en-US" smtClean="0"/>
              <a:pPr/>
              <a:t>‹#›</a:t>
            </a:fld>
            <a:endParaRPr kumimoji="1" lang="ja-JP"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3029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lvl1pPr>
              <a:defRPr>
                <a:latin typeface="UD デジタル 教科書体 NK-R" panose="02020400000000000000" pitchFamily="18" charset="-128"/>
                <a:ea typeface="UD デジタル 教科書体 NK-R" panose="02020400000000000000" pitchFamily="18" charset="-128"/>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822960" y="1845734"/>
            <a:ext cx="3703320" cy="4023360"/>
          </a:xfrm>
        </p:spPr>
        <p:txBody>
          <a:bodyPr/>
          <a:lstStyle>
            <a:lvl1pPr>
              <a:defRPr>
                <a:latin typeface="UD デジタル 教科書体 NK-R" panose="02020400000000000000" pitchFamily="18" charset="-128"/>
                <a:ea typeface="UD デジタル 教科書体 NK-R" panose="02020400000000000000" pitchFamily="18" charset="-128"/>
              </a:defRPr>
            </a:lvl1pPr>
            <a:lvl2pPr>
              <a:defRPr>
                <a:latin typeface="UD デジタル 教科書体 NK-R" panose="02020400000000000000" pitchFamily="18" charset="-128"/>
                <a:ea typeface="UD デジタル 教科書体 NK-R" panose="02020400000000000000" pitchFamily="18" charset="-128"/>
              </a:defRPr>
            </a:lvl2pPr>
            <a:lvl3pPr>
              <a:defRPr>
                <a:latin typeface="UD デジタル 教科書体 NK-R" panose="02020400000000000000" pitchFamily="18" charset="-128"/>
                <a:ea typeface="UD デジタル 教科書体 NK-R" panose="02020400000000000000" pitchFamily="18" charset="-128"/>
              </a:defRPr>
            </a:lvl3pPr>
            <a:lvl4pPr>
              <a:defRPr>
                <a:latin typeface="UD デジタル 教科書体 NK-R" panose="02020400000000000000" pitchFamily="18" charset="-128"/>
                <a:ea typeface="UD デジタル 教科書体 NK-R" panose="02020400000000000000" pitchFamily="18" charset="-128"/>
              </a:defRPr>
            </a:lvl4pPr>
            <a:lvl5pPr>
              <a:defRPr>
                <a:latin typeface="UD デジタル 教科書体 NK-R" panose="02020400000000000000" pitchFamily="18" charset="-128"/>
                <a:ea typeface="UD デジタル 教科書体 NK-R" panose="02020400000000000000" pitchFamily="18"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Content Placeholder 3"/>
          <p:cNvSpPr>
            <a:spLocks noGrp="1"/>
          </p:cNvSpPr>
          <p:nvPr>
            <p:ph sz="half" idx="2"/>
          </p:nvPr>
        </p:nvSpPr>
        <p:spPr>
          <a:xfrm>
            <a:off x="4663440" y="1845736"/>
            <a:ext cx="3703320" cy="4023359"/>
          </a:xfrm>
        </p:spPr>
        <p:txBody>
          <a:bodyPr/>
          <a:lstStyle>
            <a:lvl1pPr>
              <a:defRPr>
                <a:latin typeface="UD デジタル 教科書体 NK-R" panose="02020400000000000000" pitchFamily="18" charset="-128"/>
                <a:ea typeface="UD デジタル 教科書体 NK-R" panose="02020400000000000000" pitchFamily="18" charset="-128"/>
              </a:defRPr>
            </a:lvl1pPr>
            <a:lvl2pPr>
              <a:defRPr>
                <a:latin typeface="UD デジタル 教科書体 NK-R" panose="02020400000000000000" pitchFamily="18" charset="-128"/>
                <a:ea typeface="UD デジタル 教科書体 NK-R" panose="02020400000000000000" pitchFamily="18" charset="-128"/>
              </a:defRPr>
            </a:lvl2pPr>
            <a:lvl3pPr>
              <a:defRPr>
                <a:latin typeface="UD デジタル 教科書体 NK-R" panose="02020400000000000000" pitchFamily="18" charset="-128"/>
                <a:ea typeface="UD デジタル 教科書体 NK-R" panose="02020400000000000000" pitchFamily="18" charset="-128"/>
              </a:defRPr>
            </a:lvl3pPr>
            <a:lvl4pPr>
              <a:defRPr>
                <a:latin typeface="UD デジタル 教科書体 NK-R" panose="02020400000000000000" pitchFamily="18" charset="-128"/>
                <a:ea typeface="UD デジタル 教科書体 NK-R" panose="02020400000000000000" pitchFamily="18" charset="-128"/>
              </a:defRPr>
            </a:lvl4pPr>
            <a:lvl5pPr>
              <a:defRPr>
                <a:latin typeface="UD デジタル 教科書体 NK-R" panose="02020400000000000000" pitchFamily="18" charset="-128"/>
                <a:ea typeface="UD デジタル 教科書体 NK-R" panose="02020400000000000000" pitchFamily="18"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FC877732-5C0D-4275-89A0-A900DA59DC05}" type="datetime1">
              <a:rPr kumimoji="1" lang="ja-JP" altLang="en-US" smtClean="0"/>
              <a:t>2025/6/30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19A2C8B9-04F9-4575-A401-B86E4A91B12C}" type="slidenum">
              <a:rPr kumimoji="1" lang="ja-JP" altLang="en-US" smtClean="0"/>
              <a:pPr/>
              <a:t>‹#›</a:t>
            </a:fld>
            <a:endParaRPr kumimoji="1" lang="ja-JP" altLang="en-US"/>
          </a:p>
        </p:txBody>
      </p:sp>
    </p:spTree>
    <p:extLst>
      <p:ext uri="{BB962C8B-B14F-4D97-AF65-F5344CB8AC3E}">
        <p14:creationId xmlns:p14="http://schemas.microsoft.com/office/powerpoint/2010/main" val="3552365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latin typeface="UD デジタル 教科書体 NK-R" panose="02020400000000000000" pitchFamily="18" charset="-128"/>
                <a:ea typeface="UD デジタル 教科書体 NK-R" panose="02020400000000000000" pitchFamily="18"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22960" y="2582334"/>
            <a:ext cx="3703320" cy="3286760"/>
          </a:xfrm>
        </p:spPr>
        <p:txBody>
          <a:bodyPr/>
          <a:lstStyle>
            <a:lvl1pPr>
              <a:defRPr>
                <a:latin typeface="UD デジタル 教科書体 NK-R" panose="02020400000000000000" pitchFamily="18" charset="-128"/>
                <a:ea typeface="UD デジタル 教科書体 NK-R" panose="02020400000000000000" pitchFamily="18" charset="-128"/>
              </a:defRPr>
            </a:lvl1pPr>
            <a:lvl2pPr>
              <a:defRPr>
                <a:latin typeface="UD デジタル 教科書体 NK-R" panose="02020400000000000000" pitchFamily="18" charset="-128"/>
                <a:ea typeface="UD デジタル 教科書体 NK-R" panose="02020400000000000000" pitchFamily="18" charset="-128"/>
              </a:defRPr>
            </a:lvl2pPr>
            <a:lvl3pPr>
              <a:defRPr>
                <a:latin typeface="UD デジタル 教科書体 NK-R" panose="02020400000000000000" pitchFamily="18" charset="-128"/>
                <a:ea typeface="UD デジタル 教科書体 NK-R" panose="02020400000000000000" pitchFamily="18" charset="-128"/>
              </a:defRPr>
            </a:lvl3pPr>
            <a:lvl4pPr>
              <a:defRPr>
                <a:latin typeface="UD デジタル 教科書体 NK-R" panose="02020400000000000000" pitchFamily="18" charset="-128"/>
                <a:ea typeface="UD デジタル 教科書体 NK-R" panose="02020400000000000000" pitchFamily="18" charset="-128"/>
              </a:defRPr>
            </a:lvl4pPr>
            <a:lvl5pPr>
              <a:defRPr>
                <a:latin typeface="UD デジタル 教科書体 NK-R" panose="02020400000000000000" pitchFamily="18" charset="-128"/>
                <a:ea typeface="UD デジタル 教科書体 NK-R" panose="02020400000000000000" pitchFamily="18"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latin typeface="UD デジタル 教科書体 NK-R" panose="02020400000000000000" pitchFamily="18" charset="-128"/>
                <a:ea typeface="UD デジタル 教科書体 NK-R" panose="02020400000000000000" pitchFamily="18"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63440" y="2582334"/>
            <a:ext cx="3703320" cy="3286760"/>
          </a:xfrm>
        </p:spPr>
        <p:txBody>
          <a:bodyPr/>
          <a:lstStyle>
            <a:lvl1pPr>
              <a:defRPr>
                <a:latin typeface="UD デジタル 教科書体 NK-R" panose="02020400000000000000" pitchFamily="18" charset="-128"/>
                <a:ea typeface="UD デジタル 教科書体 NK-R" panose="02020400000000000000" pitchFamily="18" charset="-128"/>
              </a:defRPr>
            </a:lvl1pPr>
            <a:lvl2pPr>
              <a:defRPr>
                <a:latin typeface="UD デジタル 教科書体 NK-R" panose="02020400000000000000" pitchFamily="18" charset="-128"/>
                <a:ea typeface="UD デジタル 教科書体 NK-R" panose="02020400000000000000" pitchFamily="18" charset="-128"/>
              </a:defRPr>
            </a:lvl2pPr>
            <a:lvl3pPr>
              <a:defRPr>
                <a:latin typeface="UD デジタル 教科書体 NK-R" panose="02020400000000000000" pitchFamily="18" charset="-128"/>
                <a:ea typeface="UD デジタル 教科書体 NK-R" panose="02020400000000000000" pitchFamily="18" charset="-128"/>
              </a:defRPr>
            </a:lvl3pPr>
            <a:lvl4pPr>
              <a:defRPr>
                <a:latin typeface="UD デジタル 教科書体 NK-R" panose="02020400000000000000" pitchFamily="18" charset="-128"/>
                <a:ea typeface="UD デジタル 教科書体 NK-R" panose="02020400000000000000" pitchFamily="18" charset="-128"/>
              </a:defRPr>
            </a:lvl4pPr>
            <a:lvl5pPr>
              <a:defRPr>
                <a:latin typeface="UD デジタル 教科書体 NK-R" panose="02020400000000000000" pitchFamily="18" charset="-128"/>
                <a:ea typeface="UD デジタル 教科書体 NK-R" panose="02020400000000000000" pitchFamily="18"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8639321E-B68A-4F52-A1F2-A527550DBDFD}" type="datetime1">
              <a:rPr kumimoji="1" lang="ja-JP" altLang="en-US" smtClean="0"/>
              <a:t>2025/6/30</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19A2C8B9-04F9-4575-A401-B86E4A91B12C}" type="slidenum">
              <a:rPr kumimoji="1" lang="ja-JP" altLang="en-US" smtClean="0"/>
              <a:pPr/>
              <a:t>‹#›</a:t>
            </a:fld>
            <a:endParaRPr kumimoji="1" lang="ja-JP" altLang="en-US"/>
          </a:p>
        </p:txBody>
      </p:sp>
    </p:spTree>
    <p:extLst>
      <p:ext uri="{BB962C8B-B14F-4D97-AF65-F5344CB8AC3E}">
        <p14:creationId xmlns:p14="http://schemas.microsoft.com/office/powerpoint/2010/main" val="3090598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83BEDFD4-B896-4724-A307-D3BE721442EB}" type="datetime1">
              <a:rPr kumimoji="1" lang="ja-JP" altLang="en-US" smtClean="0"/>
              <a:t>2025/6/30</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19A2C8B9-04F9-4575-A401-B86E4A91B12C}" type="slidenum">
              <a:rPr kumimoji="1" lang="ja-JP" altLang="en-US" smtClean="0"/>
              <a:pPr/>
              <a:t>‹#›</a:t>
            </a:fld>
            <a:endParaRPr kumimoji="1" lang="ja-JP" altLang="en-US"/>
          </a:p>
        </p:txBody>
      </p:sp>
    </p:spTree>
    <p:extLst>
      <p:ext uri="{BB962C8B-B14F-4D97-AF65-F5344CB8AC3E}">
        <p14:creationId xmlns:p14="http://schemas.microsoft.com/office/powerpoint/2010/main" val="2136182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DBFF49C-612E-4368-B8BE-D5D2F76932F0}" type="datetime1">
              <a:rPr kumimoji="1" lang="ja-JP" altLang="en-US" smtClean="0"/>
              <a:t>2025/6/30</a:t>
            </a:fld>
            <a:endParaRPr kumimoji="1" lang="ja-JP"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kumimoji="1" lang="ja-JP" altLang="en-US"/>
          </a:p>
        </p:txBody>
      </p:sp>
      <p:sp>
        <p:nvSpPr>
          <p:cNvPr id="9" name="Slide Number Placeholder 8"/>
          <p:cNvSpPr>
            <a:spLocks noGrp="1"/>
          </p:cNvSpPr>
          <p:nvPr>
            <p:ph type="sldNum" sz="quarter" idx="12"/>
          </p:nvPr>
        </p:nvSpPr>
        <p:spPr/>
        <p:txBody>
          <a:bodyPr/>
          <a:lstStyle/>
          <a:p>
            <a:fld id="{19A2C8B9-04F9-4575-A401-B86E4A91B12C}" type="slidenum">
              <a:rPr kumimoji="1" lang="ja-JP" altLang="en-US" smtClean="0"/>
              <a:pPr/>
              <a:t>‹#›</a:t>
            </a:fld>
            <a:endParaRPr kumimoji="1" lang="ja-JP" altLang="en-US"/>
          </a:p>
        </p:txBody>
      </p:sp>
    </p:spTree>
    <p:extLst>
      <p:ext uri="{BB962C8B-B14F-4D97-AF65-F5344CB8AC3E}">
        <p14:creationId xmlns:p14="http://schemas.microsoft.com/office/powerpoint/2010/main" val="1279421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コンテンツ">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latin typeface="UD デジタル 教科書体 NK-R" panose="02020400000000000000" pitchFamily="18" charset="-128"/>
                <a:ea typeface="UD デジタル 教科書体 NK-R" panose="02020400000000000000" pitchFamily="18" charset="-128"/>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3460237" y="731520"/>
            <a:ext cx="5009393" cy="5257800"/>
          </a:xfrm>
        </p:spPr>
        <p:txBody>
          <a:bodyPr/>
          <a:lstStyle>
            <a:lvl1pPr>
              <a:defRPr>
                <a:latin typeface="UD デジタル 教科書体 NK-R" panose="02020400000000000000" pitchFamily="18" charset="-128"/>
                <a:ea typeface="UD デジタル 教科書体 NK-R" panose="02020400000000000000" pitchFamily="18" charset="-128"/>
              </a:defRPr>
            </a:lvl1pPr>
            <a:lvl2pPr>
              <a:defRPr>
                <a:latin typeface="UD デジタル 教科書体 NK-R" panose="02020400000000000000" pitchFamily="18" charset="-128"/>
                <a:ea typeface="UD デジタル 教科書体 NK-R" panose="02020400000000000000" pitchFamily="18" charset="-128"/>
              </a:defRPr>
            </a:lvl2pPr>
            <a:lvl3pPr>
              <a:defRPr>
                <a:latin typeface="UD デジタル 教科書体 NK-R" panose="02020400000000000000" pitchFamily="18" charset="-128"/>
                <a:ea typeface="UD デジタル 教科書体 NK-R" panose="02020400000000000000" pitchFamily="18" charset="-128"/>
              </a:defRPr>
            </a:lvl3pPr>
            <a:lvl4pPr>
              <a:defRPr>
                <a:latin typeface="UD デジタル 教科書体 NK-R" panose="02020400000000000000" pitchFamily="18" charset="-128"/>
                <a:ea typeface="UD デジタル 教科書体 NK-R" panose="02020400000000000000" pitchFamily="18" charset="-128"/>
              </a:defRPr>
            </a:lvl4pPr>
            <a:lvl5pPr>
              <a:defRPr>
                <a:latin typeface="UD デジタル 教科書体 NK-R" panose="02020400000000000000" pitchFamily="18" charset="-128"/>
                <a:ea typeface="UD デジタル 教科書体 NK-R" panose="02020400000000000000" pitchFamily="18"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latin typeface="UD デジタル 教科書体 NK-R" panose="02020400000000000000" pitchFamily="18" charset="-128"/>
                <a:ea typeface="UD デジタル 教科書体 NK-R" panose="02020400000000000000" pitchFamily="18"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CEB7D162-C99C-41D8-ACA7-8063D8BDD243}" type="datetime1">
              <a:rPr kumimoji="1" lang="ja-JP" altLang="en-US" smtClean="0"/>
              <a:t>2025/6/30</a:t>
            </a:fld>
            <a:endParaRPr kumimoji="1" lang="ja-JP" alt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kumimoji="1" lang="ja-JP"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9A2C8B9-04F9-4575-A401-B86E4A91B12C}" type="slidenum">
              <a:rPr kumimoji="1" lang="ja-JP" altLang="en-US" smtClean="0"/>
              <a:t>‹#›</a:t>
            </a:fld>
            <a:endParaRPr kumimoji="1" lang="ja-JP" altLang="en-US"/>
          </a:p>
        </p:txBody>
      </p:sp>
    </p:spTree>
    <p:extLst>
      <p:ext uri="{BB962C8B-B14F-4D97-AF65-F5344CB8AC3E}">
        <p14:creationId xmlns:p14="http://schemas.microsoft.com/office/powerpoint/2010/main" val="276533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latin typeface="UD デジタル 教科書体 NK-R" panose="02020400000000000000" pitchFamily="18" charset="-128"/>
                <a:ea typeface="UD デジタル 教科書体 NK-R" panose="02020400000000000000" pitchFamily="18" charset="-128"/>
              </a:defRPr>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latin typeface="UD デジタル 教科書体 NK-R" panose="02020400000000000000" pitchFamily="18" charset="-128"/>
                <a:ea typeface="UD デジタル 教科書体 NK-R" panose="02020400000000000000" pitchFamily="18"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latin typeface="UD デジタル 教科書体 NK-R" panose="02020400000000000000" pitchFamily="18" charset="-128"/>
                <a:ea typeface="UD デジタル 教科書体 NK-R" panose="02020400000000000000" pitchFamily="18"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B0BC89C8-15F9-490C-8310-BE0E8602D1C9}" type="datetime1">
              <a:rPr kumimoji="1" lang="ja-JP" altLang="en-US" smtClean="0"/>
              <a:t>2025/6/30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19A2C8B9-04F9-4575-A401-B86E4A91B12C}" type="slidenum">
              <a:rPr kumimoji="1" lang="ja-JP" altLang="en-US" smtClean="0"/>
              <a:t>‹#›</a:t>
            </a:fld>
            <a:endParaRPr kumimoji="1" lang="ja-JP" altLang="en-US"/>
          </a:p>
        </p:txBody>
      </p:sp>
    </p:spTree>
    <p:extLst>
      <p:ext uri="{BB962C8B-B14F-4D97-AF65-F5344CB8AC3E}">
        <p14:creationId xmlns:p14="http://schemas.microsoft.com/office/powerpoint/2010/main" val="610814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UD デジタル 教科書体 NK-R" panose="02020400000000000000" pitchFamily="18" charset="-128"/>
                <a:ea typeface="UD デジタル 教科書体 NK-R" panose="02020400000000000000" pitchFamily="18" charset="-128"/>
              </a:defRPr>
            </a:lvl1p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lIns="45720" tIns="0" rIns="45720" bIns="0"/>
          <a:lstStyle>
            <a:lvl1pPr>
              <a:defRPr>
                <a:latin typeface="UD デジタル 教科書体 NK-R" panose="02020400000000000000" pitchFamily="18" charset="-128"/>
                <a:ea typeface="UD デジタル 教科書体 NK-R" panose="02020400000000000000" pitchFamily="18" charset="-128"/>
              </a:defRPr>
            </a:lvl1pPr>
            <a:lvl2pPr>
              <a:defRPr>
                <a:latin typeface="UD デジタル 教科書体 NK-R" panose="02020400000000000000" pitchFamily="18" charset="-128"/>
                <a:ea typeface="UD デジタル 教科書体 NK-R" panose="02020400000000000000" pitchFamily="18" charset="-128"/>
              </a:defRPr>
            </a:lvl2pPr>
            <a:lvl3pPr>
              <a:defRPr>
                <a:latin typeface="UD デジタル 教科書体 NK-R" panose="02020400000000000000" pitchFamily="18" charset="-128"/>
                <a:ea typeface="UD デジタル 教科書体 NK-R" panose="02020400000000000000" pitchFamily="18" charset="-128"/>
              </a:defRPr>
            </a:lvl3pPr>
            <a:lvl4pPr>
              <a:defRPr>
                <a:latin typeface="UD デジタル 教科書体 NK-R" panose="02020400000000000000" pitchFamily="18" charset="-128"/>
                <a:ea typeface="UD デジタル 教科書体 NK-R" panose="02020400000000000000" pitchFamily="18" charset="-128"/>
              </a:defRPr>
            </a:lvl4pPr>
            <a:lvl5pPr>
              <a:defRPr>
                <a:latin typeface="UD デジタル 教科書体 NK-R" panose="02020400000000000000" pitchFamily="18" charset="-128"/>
                <a:ea typeface="UD デジタル 教科書体 NK-R" panose="02020400000000000000" pitchFamily="18"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AC0B3A1-860D-44DB-A12C-D0050B4E8DDB}" type="datetime1">
              <a:rPr kumimoji="1" lang="ja-JP" altLang="en-US" smtClean="0"/>
              <a:t>2025/6/30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19A2C8B9-04F9-4575-A401-B86E4A91B12C}" type="slidenum">
              <a:rPr kumimoji="1" lang="ja-JP" altLang="en-US" smtClean="0"/>
              <a:t>‹#›</a:t>
            </a:fld>
            <a:endParaRPr kumimoji="1" lang="ja-JP" altLang="en-US"/>
          </a:p>
        </p:txBody>
      </p:sp>
    </p:spTree>
    <p:extLst>
      <p:ext uri="{BB962C8B-B14F-4D97-AF65-F5344CB8AC3E}">
        <p14:creationId xmlns:p14="http://schemas.microsoft.com/office/powerpoint/2010/main" val="2305982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縦書きタイトルと&#10;縦書きテキスト">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lvl1pPr>
              <a:defRPr>
                <a:latin typeface="UD デジタル 教科書体 NK-R" panose="02020400000000000000" pitchFamily="18" charset="-128"/>
                <a:ea typeface="UD デジタル 教科書体 NK-R" panose="02020400000000000000" pitchFamily="18" charset="-128"/>
              </a:defRPr>
            </a:lvl1p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lvl1pPr>
              <a:defRPr>
                <a:latin typeface="UD デジタル 教科書体 NK-R" panose="02020400000000000000" pitchFamily="18" charset="-128"/>
                <a:ea typeface="UD デジタル 教科書体 NK-R" panose="02020400000000000000" pitchFamily="18" charset="-128"/>
              </a:defRPr>
            </a:lvl1pPr>
            <a:lvl2pPr>
              <a:defRPr>
                <a:latin typeface="UD デジタル 教科書体 NK-R" panose="02020400000000000000" pitchFamily="18" charset="-128"/>
                <a:ea typeface="UD デジタル 教科書体 NK-R" panose="02020400000000000000" pitchFamily="18" charset="-128"/>
              </a:defRPr>
            </a:lvl2pPr>
            <a:lvl3pPr>
              <a:defRPr>
                <a:latin typeface="UD デジタル 教科書体 NK-R" panose="02020400000000000000" pitchFamily="18" charset="-128"/>
                <a:ea typeface="UD デジタル 教科書体 NK-R" panose="02020400000000000000" pitchFamily="18" charset="-128"/>
              </a:defRPr>
            </a:lvl3pPr>
            <a:lvl4pPr>
              <a:defRPr>
                <a:latin typeface="UD デジタル 教科書体 NK-R" panose="02020400000000000000" pitchFamily="18" charset="-128"/>
                <a:ea typeface="UD デジタル 教科書体 NK-R" panose="02020400000000000000" pitchFamily="18" charset="-128"/>
              </a:defRPr>
            </a:lvl4pPr>
            <a:lvl5pPr>
              <a:defRPr>
                <a:latin typeface="UD デジタル 教科書体 NK-R" panose="02020400000000000000" pitchFamily="18" charset="-128"/>
                <a:ea typeface="UD デジタル 教科書体 NK-R" panose="02020400000000000000" pitchFamily="18"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97E017C4-4E95-4D7C-8C4E-2117799297A3}" type="datetime1">
              <a:rPr kumimoji="1" lang="ja-JP" altLang="en-US" smtClean="0"/>
              <a:t>2025/6/30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19A2C8B9-04F9-4575-A401-B86E4A91B12C}" type="slidenum">
              <a:rPr kumimoji="1" lang="ja-JP" altLang="en-US" smtClean="0"/>
              <a:t>‹#›</a:t>
            </a:fld>
            <a:endParaRPr kumimoji="1" lang="ja-JP" altLang="en-US"/>
          </a:p>
        </p:txBody>
      </p:sp>
    </p:spTree>
    <p:extLst>
      <p:ext uri="{BB962C8B-B14F-4D97-AF65-F5344CB8AC3E}">
        <p14:creationId xmlns:p14="http://schemas.microsoft.com/office/powerpoint/2010/main" val="4003389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1"/>
            <a:r>
              <a:rPr lang="ja-JP" altLang="en-US" dirty="0"/>
              <a:t>マスター テキストの書式設定</a:t>
            </a:r>
            <a:endParaRPr lang="en-US" altLang="ja-JP" dirty="0"/>
          </a:p>
          <a:p>
            <a:pPr lvl="2"/>
            <a:r>
              <a:rPr lang="ja-JP" altLang="en-US" dirty="0"/>
              <a:t>第 </a:t>
            </a:r>
            <a:r>
              <a:rPr lang="en-US" altLang="ja-JP" dirty="0"/>
              <a:t>2 </a:t>
            </a:r>
            <a:r>
              <a:rPr lang="ja-JP" altLang="en-US" dirty="0"/>
              <a:t>レベル</a:t>
            </a:r>
          </a:p>
          <a:p>
            <a:pPr lvl="3"/>
            <a:r>
              <a:rPr lang="ja-JP" altLang="en-US" dirty="0"/>
              <a:t>第 </a:t>
            </a:r>
            <a:r>
              <a:rPr lang="en-US" altLang="ja-JP" dirty="0"/>
              <a:t>3 </a:t>
            </a:r>
            <a:r>
              <a:rPr lang="ja-JP" altLang="en-US" dirty="0"/>
              <a:t>レベル</a:t>
            </a:r>
          </a:p>
          <a:p>
            <a:pPr lvl="4"/>
            <a:r>
              <a:rPr lang="ja-JP" altLang="en-US" dirty="0"/>
              <a:t>第 </a:t>
            </a:r>
            <a:r>
              <a:rPr lang="en-US" altLang="ja-JP" dirty="0"/>
              <a:t>4 </a:t>
            </a:r>
            <a:r>
              <a:rPr lang="ja-JP" altLang="en-US" dirty="0"/>
              <a:t>レベル</a:t>
            </a:r>
          </a:p>
          <a:p>
            <a:pPr lvl="5"/>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2"/>
          </p:nvPr>
        </p:nvSpPr>
        <p:spPr>
          <a:xfrm>
            <a:off x="4206241" y="6446837"/>
            <a:ext cx="1854203" cy="365125"/>
          </a:xfrm>
          <a:prstGeom prst="rect">
            <a:avLst/>
          </a:prstGeom>
        </p:spPr>
        <p:txBody>
          <a:bodyPr vert="horz" lIns="91440" tIns="45720" rIns="91440" bIns="45720" rtlCol="0" anchor="ctr"/>
          <a:lstStyle>
            <a:lvl1pPr algn="l">
              <a:defRPr sz="900">
                <a:solidFill>
                  <a:schemeClr val="tx1"/>
                </a:solidFill>
              </a:defRPr>
            </a:lvl1pPr>
          </a:lstStyle>
          <a:p>
            <a:fld id="{CA82111D-CCE2-401D-99AB-E5E28C14465E}" type="datetime1">
              <a:rPr kumimoji="1" lang="ja-JP" altLang="en-US" smtClean="0"/>
              <a:pPr/>
              <a:t>2025/6/30</a:t>
            </a:fld>
            <a:endParaRPr kumimoji="1" lang="ja-JP" altLang="en-US" dirty="0"/>
          </a:p>
        </p:txBody>
      </p:sp>
      <p:sp>
        <p:nvSpPr>
          <p:cNvPr id="5" name="Footer Placeholder 4"/>
          <p:cNvSpPr>
            <a:spLocks noGrp="1"/>
          </p:cNvSpPr>
          <p:nvPr>
            <p:ph type="ftr" sz="quarter" idx="3"/>
          </p:nvPr>
        </p:nvSpPr>
        <p:spPr>
          <a:xfrm>
            <a:off x="204319" y="644683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kumimoji="1" lang="ja-JP" alt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chemeClr val="tx1"/>
                </a:solidFill>
              </a:defRPr>
            </a:lvl1pPr>
          </a:lstStyle>
          <a:p>
            <a:fld id="{19A2C8B9-04F9-4575-A401-B86E4A91B12C}" type="slidenum">
              <a:rPr kumimoji="1" lang="ja-JP" altLang="en-US" smtClean="0"/>
              <a:pPr/>
              <a:t>‹#›</a:t>
            </a:fld>
            <a:endParaRPr kumimoji="1" lang="ja-JP" alt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1348320"/>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Lst>
  <p:hf hdr="0" ftr="0"/>
  <p:txStyles>
    <p:title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j-cs"/>
        </a:defRPr>
      </a:lvl1pPr>
    </p:titleStyle>
    <p:bodyStyle>
      <a:lvl1pPr marL="91440" indent="-91440" algn="l" defTabSz="914400" rtl="0" eaLnBrk="1" latinLnBrk="0" hangingPunct="1">
        <a:lnSpc>
          <a:spcPct val="90000"/>
        </a:lnSpc>
        <a:spcBef>
          <a:spcPts val="1200"/>
        </a:spcBef>
        <a:spcAft>
          <a:spcPts val="200"/>
        </a:spcAft>
        <a:buClrTx/>
        <a:buSzPct val="100000"/>
        <a:buFont typeface="Arial" panose="020B0604020202020204" pitchFamily="34" charset="0"/>
        <a:buChar char="•"/>
        <a:defRPr kumimoji="1" sz="2800" kern="1200">
          <a:solidFill>
            <a:schemeClr val="tx1">
              <a:lumMod val="75000"/>
              <a:lumOff val="25000"/>
            </a:schemeClr>
          </a:solidFill>
          <a:latin typeface="+mn-lt"/>
          <a:ea typeface="+mn-ea"/>
          <a:cs typeface="+mn-cs"/>
        </a:defRPr>
      </a:lvl1pPr>
      <a:lvl2pPr marL="544068" indent="-342900" algn="l" defTabSz="914400" rtl="0" eaLnBrk="1" latinLnBrk="0" hangingPunct="1">
        <a:lnSpc>
          <a:spcPct val="90000"/>
        </a:lnSpc>
        <a:spcBef>
          <a:spcPts val="200"/>
        </a:spcBef>
        <a:spcAft>
          <a:spcPts val="400"/>
        </a:spcAft>
        <a:buClrTx/>
        <a:buFont typeface="Arial" panose="020B0604020202020204" pitchFamily="34" charset="0"/>
        <a:buChar char="•"/>
        <a:defRPr kumimoji="1" sz="2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2pPr>
      <a:lvl3pPr marL="726948" indent="-342900" algn="l" defTabSz="914400" rtl="0" eaLnBrk="1" latinLnBrk="0" hangingPunct="1">
        <a:lnSpc>
          <a:spcPct val="90000"/>
        </a:lnSpc>
        <a:spcBef>
          <a:spcPts val="200"/>
        </a:spcBef>
        <a:spcAft>
          <a:spcPts val="400"/>
        </a:spcAft>
        <a:buClrTx/>
        <a:buFont typeface="Arial" panose="020B0604020202020204" pitchFamily="34" charset="0"/>
        <a:buChar char="•"/>
        <a:defRPr kumimoji="1" sz="24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3pPr>
      <a:lvl4pPr marL="909828" indent="-342900" algn="l" defTabSz="914400" rtl="0" eaLnBrk="1" latinLnBrk="0" hangingPunct="1">
        <a:lnSpc>
          <a:spcPct val="90000"/>
        </a:lnSpc>
        <a:spcBef>
          <a:spcPts val="200"/>
        </a:spcBef>
        <a:spcAft>
          <a:spcPts val="400"/>
        </a:spcAft>
        <a:buClrTx/>
        <a:buFont typeface="Arial" panose="020B0604020202020204" pitchFamily="34" charset="0"/>
        <a:buChar char="•"/>
        <a:defRPr kumimoji="1" sz="20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4pPr>
      <a:lvl5pPr marL="1035558" indent="-285750" algn="l" defTabSz="914400" rtl="0" eaLnBrk="1" latinLnBrk="0" hangingPunct="1">
        <a:lnSpc>
          <a:spcPct val="90000"/>
        </a:lnSpc>
        <a:spcBef>
          <a:spcPts val="200"/>
        </a:spcBef>
        <a:spcAft>
          <a:spcPts val="400"/>
        </a:spcAft>
        <a:buClrTx/>
        <a:buFont typeface="Arial" panose="020B0604020202020204" pitchFamily="34" charset="0"/>
        <a:buChar char="•"/>
        <a:defRPr kumimoji="1" sz="18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5pPr>
      <a:lvl6pPr marL="1157150" indent="-285750" algn="l" defTabSz="914400" rtl="0" eaLnBrk="1" latinLnBrk="0" hangingPunct="1">
        <a:lnSpc>
          <a:spcPct val="90000"/>
        </a:lnSpc>
        <a:spcBef>
          <a:spcPts val="200"/>
        </a:spcBef>
        <a:spcAft>
          <a:spcPts val="400"/>
        </a:spcAft>
        <a:buClrTx/>
        <a:buFont typeface="Arial" panose="020B0604020202020204" pitchFamily="34" charset="0"/>
        <a:buChar char="•"/>
        <a:defRPr kumimoji="1" sz="1600" kern="1200">
          <a:solidFill>
            <a:schemeClr val="tx1">
              <a:lumMod val="75000"/>
              <a:lumOff val="25000"/>
            </a:schemeClr>
          </a:solidFill>
          <a:latin typeface="UD デジタル 教科書体 NK-R" panose="02020400000000000000" pitchFamily="18" charset="-128"/>
          <a:ea typeface="UD デジタル 教科書体 NK-R" panose="02020400000000000000" pitchFamily="18" charset="-128"/>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CBE671-A8C6-0AD6-EF42-FC0B9616703F}"/>
              </a:ext>
            </a:extLst>
          </p:cNvPr>
          <p:cNvSpPr>
            <a:spLocks noGrp="1"/>
          </p:cNvSpPr>
          <p:nvPr>
            <p:ph type="ctrTitle"/>
          </p:nvPr>
        </p:nvSpPr>
        <p:spPr>
          <a:xfrm>
            <a:off x="958290" y="2717989"/>
            <a:ext cx="7989752" cy="1504844"/>
          </a:xfrm>
        </p:spPr>
        <p:txBody>
          <a:bodyPr>
            <a:noAutofit/>
          </a:bodyPr>
          <a:lstStyle/>
          <a:p>
            <a:r>
              <a:rPr lang="en-US" altLang="ja-JP" dirty="0">
                <a:solidFill>
                  <a:schemeClr val="tx1"/>
                </a:solidFill>
              </a:rPr>
              <a:t>PSP</a:t>
            </a:r>
            <a:r>
              <a:rPr lang="ja-JP" altLang="en-US" dirty="0">
                <a:solidFill>
                  <a:schemeClr val="tx1"/>
                </a:solidFill>
              </a:rPr>
              <a:t>中間レポート</a:t>
            </a:r>
            <a:endParaRPr kumimoji="1" lang="ja-JP" altLang="en-US" dirty="0">
              <a:solidFill>
                <a:schemeClr val="tx1"/>
              </a:solidFill>
            </a:endParaRPr>
          </a:p>
        </p:txBody>
      </p:sp>
      <p:sp>
        <p:nvSpPr>
          <p:cNvPr id="4" name="日付プレースホルダー 3">
            <a:extLst>
              <a:ext uri="{FF2B5EF4-FFF2-40B4-BE49-F238E27FC236}">
                <a16:creationId xmlns:a16="http://schemas.microsoft.com/office/drawing/2014/main" id="{3DBB95CD-D705-AA5D-477D-5616AC917699}"/>
              </a:ext>
            </a:extLst>
          </p:cNvPr>
          <p:cNvSpPr>
            <a:spLocks noGrp="1"/>
          </p:cNvSpPr>
          <p:nvPr>
            <p:ph type="dt" sz="half" idx="10"/>
          </p:nvPr>
        </p:nvSpPr>
        <p:spPr/>
        <p:txBody>
          <a:bodyPr/>
          <a:lstStyle/>
          <a:p>
            <a:fld id="{F8D5D9E1-B304-4563-AA13-A40B6A9E8CDF}" type="datetime1">
              <a:rPr kumimoji="1" lang="ja-JP" altLang="en-US" smtClean="0"/>
              <a:t>2025/6/30</a:t>
            </a:fld>
            <a:endParaRPr kumimoji="1" lang="en-US" altLang="ja-JP" dirty="0"/>
          </a:p>
        </p:txBody>
      </p:sp>
      <p:sp>
        <p:nvSpPr>
          <p:cNvPr id="5" name="スライド番号プレースホルダー 4">
            <a:extLst>
              <a:ext uri="{FF2B5EF4-FFF2-40B4-BE49-F238E27FC236}">
                <a16:creationId xmlns:a16="http://schemas.microsoft.com/office/drawing/2014/main" id="{B6454D4A-FBEC-0259-3999-FA228E456003}"/>
              </a:ext>
            </a:extLst>
          </p:cNvPr>
          <p:cNvSpPr>
            <a:spLocks noGrp="1"/>
          </p:cNvSpPr>
          <p:nvPr>
            <p:ph type="sldNum" sz="quarter" idx="12"/>
          </p:nvPr>
        </p:nvSpPr>
        <p:spPr/>
        <p:txBody>
          <a:bodyPr/>
          <a:lstStyle/>
          <a:p>
            <a:fld id="{19A2C8B9-04F9-4575-A401-B86E4A91B12C}" type="slidenum">
              <a:rPr kumimoji="1" lang="ja-JP" altLang="en-US" smtClean="0"/>
              <a:t>1</a:t>
            </a:fld>
            <a:endParaRPr kumimoji="1" lang="ja-JP" altLang="en-US"/>
          </a:p>
        </p:txBody>
      </p:sp>
      <p:sp>
        <p:nvSpPr>
          <p:cNvPr id="6" name="タイトル 1">
            <a:extLst>
              <a:ext uri="{FF2B5EF4-FFF2-40B4-BE49-F238E27FC236}">
                <a16:creationId xmlns:a16="http://schemas.microsoft.com/office/drawing/2014/main" id="{9057FC8C-10DF-0850-97A9-7FE224223D8B}"/>
              </a:ext>
            </a:extLst>
          </p:cNvPr>
          <p:cNvSpPr txBox="1">
            <a:spLocks/>
          </p:cNvSpPr>
          <p:nvPr/>
        </p:nvSpPr>
        <p:spPr>
          <a:xfrm>
            <a:off x="3643427" y="4140011"/>
            <a:ext cx="4542283" cy="1504844"/>
          </a:xfrm>
          <a:prstGeom prst="rect">
            <a:avLst/>
          </a:prstGeom>
          <a:effectLst/>
        </p:spPr>
        <p:txBody>
          <a:bodyPr vert="horz" lIns="91440" tIns="45720" rIns="91440" bIns="45720" rtlCol="0" anchor="b">
            <a:normAutofit/>
          </a:bodyPr>
          <a:lstStyle>
            <a:lvl1pPr algn="l" defTabSz="457200" rtl="0" eaLnBrk="1" latinLnBrk="0" hangingPunct="1">
              <a:spcBef>
                <a:spcPct val="0"/>
              </a:spcBef>
              <a:buNone/>
              <a:defRPr kumimoji="1" sz="3600" b="0" kern="1200" cap="all">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pPr algn="r"/>
            <a:r>
              <a:rPr lang="ja-JP" altLang="en-US" sz="2400" dirty="0">
                <a:solidFill>
                  <a:schemeClr val="tx1"/>
                </a:solidFill>
                <a:latin typeface="UD デジタル 教科書体 NK-R" panose="02020400000000000000" pitchFamily="18" charset="-128"/>
                <a:ea typeface="UD デジタル 教科書体 NK-R" panose="02020400000000000000" pitchFamily="18" charset="-128"/>
              </a:rPr>
              <a:t>九州工業大学院</a:t>
            </a:r>
            <a:endParaRPr lang="en-US" altLang="ja-JP" sz="2400" dirty="0">
              <a:solidFill>
                <a:schemeClr val="tx1"/>
              </a:solidFill>
              <a:latin typeface="UD デジタル 教科書体 NK-R" panose="02020400000000000000" pitchFamily="18" charset="-128"/>
              <a:ea typeface="UD デジタル 教科書体 NK-R" panose="02020400000000000000" pitchFamily="18" charset="-128"/>
            </a:endParaRPr>
          </a:p>
          <a:p>
            <a:pPr algn="r"/>
            <a:r>
              <a:rPr lang="ja-JP" altLang="en-US" sz="2400" dirty="0">
                <a:solidFill>
                  <a:schemeClr val="tx1"/>
                </a:solidFill>
                <a:latin typeface="UD デジタル 教科書体 NK-R" panose="02020400000000000000" pitchFamily="18" charset="-128"/>
                <a:ea typeface="UD デジタル 教科書体 NK-R" panose="02020400000000000000" pitchFamily="18" charset="-128"/>
              </a:rPr>
              <a:t>情報創成工学専攻 片峯研究室</a:t>
            </a:r>
            <a:endParaRPr lang="en-US" altLang="ja-JP" sz="2400" dirty="0">
              <a:solidFill>
                <a:schemeClr val="tx1"/>
              </a:solidFill>
              <a:latin typeface="UD デジタル 教科書体 NK-R" panose="02020400000000000000" pitchFamily="18" charset="-128"/>
              <a:ea typeface="UD デジタル 教科書体 NK-R" panose="02020400000000000000" pitchFamily="18" charset="-128"/>
            </a:endParaRPr>
          </a:p>
          <a:p>
            <a:pPr algn="r"/>
            <a:r>
              <a:rPr lang="ja-JP" altLang="en-US" sz="2400" dirty="0">
                <a:solidFill>
                  <a:schemeClr val="tx1"/>
                </a:solidFill>
                <a:latin typeface="UD デジタル 教科書体 NK-R" panose="02020400000000000000" pitchFamily="18" charset="-128"/>
                <a:ea typeface="UD デジタル 教科書体 NK-R" panose="02020400000000000000" pitchFamily="18" charset="-128"/>
              </a:rPr>
              <a:t>三留慎太郎</a:t>
            </a:r>
          </a:p>
        </p:txBody>
      </p:sp>
    </p:spTree>
    <p:extLst>
      <p:ext uri="{BB962C8B-B14F-4D97-AF65-F5344CB8AC3E}">
        <p14:creationId xmlns:p14="http://schemas.microsoft.com/office/powerpoint/2010/main" val="4289550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7E3C85-E68F-E537-39B1-BA644C9E54F9}"/>
              </a:ext>
            </a:extLst>
          </p:cNvPr>
          <p:cNvSpPr>
            <a:spLocks noGrp="1"/>
          </p:cNvSpPr>
          <p:nvPr>
            <p:ph type="title"/>
          </p:nvPr>
        </p:nvSpPr>
        <p:spPr/>
        <p:txBody>
          <a:bodyPr/>
          <a:lstStyle/>
          <a:p>
            <a:r>
              <a:rPr kumimoji="1" lang="en-US" altLang="ja-JP" dirty="0"/>
              <a:t>1.1 </a:t>
            </a:r>
            <a:r>
              <a:rPr kumimoji="1" lang="ja-JP" altLang="en-US" dirty="0"/>
              <a:t>実績規模</a:t>
            </a:r>
            <a:r>
              <a:rPr kumimoji="1" lang="en-US" altLang="ja-JP" dirty="0"/>
              <a:t>(LOC)</a:t>
            </a:r>
            <a:endParaRPr kumimoji="1" lang="ja-JP" altLang="en-US" dirty="0"/>
          </a:p>
        </p:txBody>
      </p:sp>
      <p:graphicFrame>
        <p:nvGraphicFramePr>
          <p:cNvPr id="6" name="コンテンツ プレースホルダー 5">
            <a:extLst>
              <a:ext uri="{FF2B5EF4-FFF2-40B4-BE49-F238E27FC236}">
                <a16:creationId xmlns:a16="http://schemas.microsoft.com/office/drawing/2014/main" id="{17A6A3DF-A615-E577-58FE-E89468F3149F}"/>
              </a:ext>
            </a:extLst>
          </p:cNvPr>
          <p:cNvGraphicFramePr>
            <a:graphicFrameLocks noGrp="1"/>
          </p:cNvGraphicFramePr>
          <p:nvPr>
            <p:ph idx="1"/>
            <p:extLst>
              <p:ext uri="{D42A27DB-BD31-4B8C-83A1-F6EECF244321}">
                <p14:modId xmlns:p14="http://schemas.microsoft.com/office/powerpoint/2010/main" val="2084229243"/>
              </p:ext>
            </p:extLst>
          </p:nvPr>
        </p:nvGraphicFramePr>
        <p:xfrm>
          <a:off x="822325" y="1846262"/>
          <a:ext cx="2644444" cy="2108232"/>
        </p:xfrm>
        <a:graphic>
          <a:graphicData uri="http://schemas.openxmlformats.org/drawingml/2006/table">
            <a:tbl>
              <a:tblPr firstRow="1" bandRow="1">
                <a:tableStyleId>{2D5ABB26-0587-4C30-8999-92F81FD0307C}</a:tableStyleId>
              </a:tblPr>
              <a:tblGrid>
                <a:gridCol w="1322222">
                  <a:extLst>
                    <a:ext uri="{9D8B030D-6E8A-4147-A177-3AD203B41FA5}">
                      <a16:colId xmlns:a16="http://schemas.microsoft.com/office/drawing/2014/main" val="1394653570"/>
                    </a:ext>
                  </a:extLst>
                </a:gridCol>
                <a:gridCol w="1322222">
                  <a:extLst>
                    <a:ext uri="{9D8B030D-6E8A-4147-A177-3AD203B41FA5}">
                      <a16:colId xmlns:a16="http://schemas.microsoft.com/office/drawing/2014/main" val="2439060713"/>
                    </a:ext>
                  </a:extLst>
                </a:gridCol>
              </a:tblGrid>
              <a:tr h="367038">
                <a:tc>
                  <a:txBody>
                    <a:bodyPr/>
                    <a:lstStyle/>
                    <a:p>
                      <a:r>
                        <a:rPr kumimoji="1" lang="ja-JP" altLang="en-US" dirty="0"/>
                        <a:t>課題番号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実績規模</a:t>
                      </a:r>
                      <a:r>
                        <a:rPr kumimoji="1" lang="en-US" altLang="ja-JP" dirty="0"/>
                        <a:t>(LOC)</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3410626"/>
                  </a:ext>
                </a:extLst>
              </a:tr>
              <a:tr h="367038">
                <a:tc>
                  <a:txBody>
                    <a:bodyPr/>
                    <a:lstStyle/>
                    <a:p>
                      <a:r>
                        <a:rPr kumimoji="1" lang="en-US" altLang="ja-JP" dirty="0"/>
                        <a:t>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97</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7655685"/>
                  </a:ext>
                </a:extLst>
              </a:tr>
              <a:tr h="367038">
                <a:tc>
                  <a:txBody>
                    <a:bodyPr/>
                    <a:lstStyle/>
                    <a:p>
                      <a:r>
                        <a:rPr kumimoji="1" lang="en-US" altLang="ja-JP" dirty="0"/>
                        <a:t>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111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5569576"/>
                  </a:ext>
                </a:extLst>
              </a:tr>
              <a:tr h="367038">
                <a:tc>
                  <a:txBody>
                    <a:bodyPr/>
                    <a:lstStyle/>
                    <a:p>
                      <a:r>
                        <a:rPr kumimoji="1" lang="en-US" altLang="ja-JP" dirty="0"/>
                        <a:t>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118</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2951007"/>
                  </a:ext>
                </a:extLst>
              </a:tr>
              <a:tr h="367038">
                <a:tc>
                  <a:txBody>
                    <a:bodyPr/>
                    <a:lstStyle/>
                    <a:p>
                      <a:r>
                        <a:rPr kumimoji="1" lang="en-US" altLang="ja-JP" dirty="0"/>
                        <a:t>4</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45</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236550"/>
                  </a:ext>
                </a:extLst>
              </a:tr>
            </a:tbl>
          </a:graphicData>
        </a:graphic>
      </p:graphicFrame>
      <p:sp>
        <p:nvSpPr>
          <p:cNvPr id="4" name="日付プレースホルダー 3">
            <a:extLst>
              <a:ext uri="{FF2B5EF4-FFF2-40B4-BE49-F238E27FC236}">
                <a16:creationId xmlns:a16="http://schemas.microsoft.com/office/drawing/2014/main" id="{9FA04B52-CD9B-3D29-C794-97074018710B}"/>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E07D8FE7-471F-205E-B6AA-31AF950839E9}"/>
              </a:ext>
            </a:extLst>
          </p:cNvPr>
          <p:cNvSpPr>
            <a:spLocks noGrp="1"/>
          </p:cNvSpPr>
          <p:nvPr>
            <p:ph type="sldNum" sz="quarter" idx="12"/>
          </p:nvPr>
        </p:nvSpPr>
        <p:spPr/>
        <p:txBody>
          <a:bodyPr/>
          <a:lstStyle/>
          <a:p>
            <a:fld id="{19A2C8B9-04F9-4575-A401-B86E4A91B12C}" type="slidenum">
              <a:rPr kumimoji="1" lang="ja-JP" altLang="en-US" smtClean="0"/>
              <a:pPr/>
              <a:t>2</a:t>
            </a:fld>
            <a:endParaRPr kumimoji="1" lang="ja-JP" altLang="en-US"/>
          </a:p>
        </p:txBody>
      </p:sp>
      <p:sp>
        <p:nvSpPr>
          <p:cNvPr id="7" name="テキスト ボックス 6">
            <a:extLst>
              <a:ext uri="{FF2B5EF4-FFF2-40B4-BE49-F238E27FC236}">
                <a16:creationId xmlns:a16="http://schemas.microsoft.com/office/drawing/2014/main" id="{83CDC62C-5BA3-99BE-7DAE-22612C321F17}"/>
              </a:ext>
            </a:extLst>
          </p:cNvPr>
          <p:cNvSpPr txBox="1"/>
          <p:nvPr/>
        </p:nvSpPr>
        <p:spPr>
          <a:xfrm>
            <a:off x="822325" y="4286514"/>
            <a:ext cx="6353021" cy="1384995"/>
          </a:xfrm>
          <a:prstGeom prst="rect">
            <a:avLst/>
          </a:prstGeom>
          <a:noFill/>
        </p:spPr>
        <p:txBody>
          <a:bodyPr wrap="none" rtlCol="0">
            <a:spAutoFit/>
          </a:bodyPr>
          <a:lstStyle/>
          <a:p>
            <a:pPr algn="l"/>
            <a:r>
              <a:rPr kumimoji="1" lang="ja-JP" altLang="en-US" sz="2800" dirty="0">
                <a:latin typeface="UD デジタル 教科書体 NK-R" panose="02020400000000000000" pitchFamily="18" charset="-128"/>
                <a:ea typeface="UD デジタル 教科書体 NK-R" panose="02020400000000000000" pitchFamily="18" charset="-128"/>
              </a:rPr>
              <a:t>平均：</a:t>
            </a:r>
            <a:r>
              <a:rPr kumimoji="1" lang="en-US" altLang="ja-JP"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(97+111+118+45)/4=92.75</a:t>
            </a:r>
          </a:p>
          <a:p>
            <a:pPr algn="l"/>
            <a:r>
              <a:rPr kumimoji="1" lang="ja-JP" altLang="en-US"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最大値：</a:t>
            </a:r>
            <a:r>
              <a:rPr kumimoji="1" lang="en-US" altLang="ja-JP"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118</a:t>
            </a:r>
          </a:p>
          <a:p>
            <a:pPr algn="l"/>
            <a:r>
              <a:rPr kumimoji="1" lang="ja-JP" altLang="en-US"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最小値：</a:t>
            </a:r>
            <a:r>
              <a:rPr kumimoji="1" lang="en-US" altLang="ja-JP"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45</a:t>
            </a:r>
          </a:p>
        </p:txBody>
      </p:sp>
    </p:spTree>
    <p:extLst>
      <p:ext uri="{BB962C8B-B14F-4D97-AF65-F5344CB8AC3E}">
        <p14:creationId xmlns:p14="http://schemas.microsoft.com/office/powerpoint/2010/main" val="222035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7E3C85-E68F-E537-39B1-BA644C9E54F9}"/>
              </a:ext>
            </a:extLst>
          </p:cNvPr>
          <p:cNvSpPr>
            <a:spLocks noGrp="1"/>
          </p:cNvSpPr>
          <p:nvPr>
            <p:ph type="title"/>
          </p:nvPr>
        </p:nvSpPr>
        <p:spPr/>
        <p:txBody>
          <a:bodyPr/>
          <a:lstStyle/>
          <a:p>
            <a:r>
              <a:rPr kumimoji="1" lang="en-US" altLang="ja-JP" dirty="0"/>
              <a:t>1.1 </a:t>
            </a:r>
            <a:r>
              <a:rPr kumimoji="1" lang="ja-JP" altLang="en-US" dirty="0"/>
              <a:t>実績規模グラフ</a:t>
            </a:r>
          </a:p>
        </p:txBody>
      </p:sp>
      <p:sp>
        <p:nvSpPr>
          <p:cNvPr id="4" name="日付プレースホルダー 3">
            <a:extLst>
              <a:ext uri="{FF2B5EF4-FFF2-40B4-BE49-F238E27FC236}">
                <a16:creationId xmlns:a16="http://schemas.microsoft.com/office/drawing/2014/main" id="{9FA04B52-CD9B-3D29-C794-97074018710B}"/>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E07D8FE7-471F-205E-B6AA-31AF950839E9}"/>
              </a:ext>
            </a:extLst>
          </p:cNvPr>
          <p:cNvSpPr>
            <a:spLocks noGrp="1"/>
          </p:cNvSpPr>
          <p:nvPr>
            <p:ph type="sldNum" sz="quarter" idx="12"/>
          </p:nvPr>
        </p:nvSpPr>
        <p:spPr/>
        <p:txBody>
          <a:bodyPr/>
          <a:lstStyle/>
          <a:p>
            <a:fld id="{19A2C8B9-04F9-4575-A401-B86E4A91B12C}" type="slidenum">
              <a:rPr kumimoji="1" lang="ja-JP" altLang="en-US" smtClean="0"/>
              <a:pPr/>
              <a:t>3</a:t>
            </a:fld>
            <a:endParaRPr kumimoji="1" lang="ja-JP" altLang="en-US"/>
          </a:p>
        </p:txBody>
      </p:sp>
      <p:pic>
        <p:nvPicPr>
          <p:cNvPr id="8" name="図 7">
            <a:extLst>
              <a:ext uri="{FF2B5EF4-FFF2-40B4-BE49-F238E27FC236}">
                <a16:creationId xmlns:a16="http://schemas.microsoft.com/office/drawing/2014/main" id="{ADB11EAD-B73C-286F-C70E-D32F7E93C78E}"/>
              </a:ext>
            </a:extLst>
          </p:cNvPr>
          <p:cNvPicPr>
            <a:picLocks noChangeAspect="1"/>
          </p:cNvPicPr>
          <p:nvPr/>
        </p:nvPicPr>
        <p:blipFill>
          <a:blip r:embed="rId2"/>
          <a:stretch>
            <a:fillRect/>
          </a:stretch>
        </p:blipFill>
        <p:spPr>
          <a:xfrm>
            <a:off x="1139495" y="1737361"/>
            <a:ext cx="6910729" cy="4153790"/>
          </a:xfrm>
          <a:prstGeom prst="rect">
            <a:avLst/>
          </a:prstGeom>
        </p:spPr>
      </p:pic>
      <p:sp>
        <p:nvSpPr>
          <p:cNvPr id="12" name="テキスト ボックス 11">
            <a:extLst>
              <a:ext uri="{FF2B5EF4-FFF2-40B4-BE49-F238E27FC236}">
                <a16:creationId xmlns:a16="http://schemas.microsoft.com/office/drawing/2014/main" id="{D1114D25-67A6-4871-CEB2-5A8AE99D8719}"/>
              </a:ext>
            </a:extLst>
          </p:cNvPr>
          <p:cNvSpPr txBox="1"/>
          <p:nvPr/>
        </p:nvSpPr>
        <p:spPr>
          <a:xfrm>
            <a:off x="0" y="5891151"/>
            <a:ext cx="9144000" cy="461665"/>
          </a:xfrm>
          <a:prstGeom prst="rect">
            <a:avLst/>
          </a:prstGeom>
          <a:noFill/>
        </p:spPr>
        <p:txBody>
          <a:bodyPr wrap="square" rtlCol="0">
            <a:spAutoFit/>
          </a:bodyPr>
          <a:lstStyle/>
          <a:p>
            <a:pPr algn="l"/>
            <a:r>
              <a:rPr kumimoji="1" lang="ja-JP" altLang="en-US" sz="2400" dirty="0">
                <a:latin typeface="UD デジタル 教科書体 NK-R" panose="02020400000000000000" pitchFamily="18" charset="-128"/>
                <a:ea typeface="UD デジタル 教科書体 NK-R" panose="02020400000000000000" pitchFamily="18" charset="-128"/>
              </a:rPr>
              <a:t>課題</a:t>
            </a:r>
            <a:r>
              <a:rPr kumimoji="1" lang="en-US" altLang="ja-JP" sz="2400" dirty="0">
                <a:latin typeface="UD デジタル 教科書体 NK-R" panose="02020400000000000000" pitchFamily="18" charset="-128"/>
                <a:ea typeface="UD デジタル 教科書体 NK-R" panose="02020400000000000000" pitchFamily="18" charset="-128"/>
              </a:rPr>
              <a:t>4</a:t>
            </a:r>
            <a:r>
              <a:rPr kumimoji="1" lang="ja-JP" altLang="en-US" sz="2400" dirty="0">
                <a:latin typeface="UD デジタル 教科書体 NK-R" panose="02020400000000000000" pitchFamily="18" charset="-128"/>
                <a:ea typeface="UD デジタル 教科書体 NK-R" panose="02020400000000000000" pitchFamily="18" charset="-128"/>
              </a:rPr>
              <a:t>はベースコードをかなり利用できたので実績規模が小さくなった</a:t>
            </a:r>
            <a:endParaRPr kumimoji="1" lang="en-US" altLang="ja-JP" sz="24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endParaRPr>
          </a:p>
        </p:txBody>
      </p:sp>
    </p:spTree>
    <p:extLst>
      <p:ext uri="{BB962C8B-B14F-4D97-AF65-F5344CB8AC3E}">
        <p14:creationId xmlns:p14="http://schemas.microsoft.com/office/powerpoint/2010/main" val="3575860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C0F4A4-F09E-D9AB-6C1F-345D350FA5CB}"/>
              </a:ext>
            </a:extLst>
          </p:cNvPr>
          <p:cNvSpPr>
            <a:spLocks noGrp="1"/>
          </p:cNvSpPr>
          <p:nvPr>
            <p:ph type="title"/>
          </p:nvPr>
        </p:nvSpPr>
        <p:spPr>
          <a:xfrm>
            <a:off x="411480" y="286604"/>
            <a:ext cx="8321040" cy="1450757"/>
          </a:xfrm>
        </p:spPr>
        <p:txBody>
          <a:bodyPr/>
          <a:lstStyle/>
          <a:p>
            <a:r>
              <a:rPr kumimoji="1" lang="en-US" altLang="ja-JP" dirty="0"/>
              <a:t>1.2,1.3 </a:t>
            </a:r>
            <a:r>
              <a:rPr kumimoji="1" lang="ja-JP" altLang="en-US" dirty="0"/>
              <a:t>規模見積もり誤差</a:t>
            </a:r>
            <a:r>
              <a:rPr kumimoji="1" lang="en-US" altLang="ja-JP" dirty="0"/>
              <a:t>(%)</a:t>
            </a:r>
            <a:endParaRPr kumimoji="1" lang="ja-JP" altLang="en-US" dirty="0"/>
          </a:p>
        </p:txBody>
      </p:sp>
      <p:sp>
        <p:nvSpPr>
          <p:cNvPr id="4" name="日付プレースホルダー 3">
            <a:extLst>
              <a:ext uri="{FF2B5EF4-FFF2-40B4-BE49-F238E27FC236}">
                <a16:creationId xmlns:a16="http://schemas.microsoft.com/office/drawing/2014/main" id="{D11908EA-14BC-E9BD-7980-DCE70D6E2A39}"/>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26149944-1C6E-4FE4-3427-1B90AE1B451B}"/>
              </a:ext>
            </a:extLst>
          </p:cNvPr>
          <p:cNvSpPr>
            <a:spLocks noGrp="1"/>
          </p:cNvSpPr>
          <p:nvPr>
            <p:ph type="sldNum" sz="quarter" idx="12"/>
          </p:nvPr>
        </p:nvSpPr>
        <p:spPr/>
        <p:txBody>
          <a:bodyPr/>
          <a:lstStyle/>
          <a:p>
            <a:fld id="{19A2C8B9-04F9-4575-A401-B86E4A91B12C}" type="slidenum">
              <a:rPr kumimoji="1" lang="ja-JP" altLang="en-US" smtClean="0"/>
              <a:pPr/>
              <a:t>4</a:t>
            </a:fld>
            <a:endParaRPr kumimoji="1" lang="ja-JP" altLang="en-US"/>
          </a:p>
        </p:txBody>
      </p:sp>
      <p:graphicFrame>
        <p:nvGraphicFramePr>
          <p:cNvPr id="8" name="コンテンツ プレースホルダー 5">
            <a:extLst>
              <a:ext uri="{FF2B5EF4-FFF2-40B4-BE49-F238E27FC236}">
                <a16:creationId xmlns:a16="http://schemas.microsoft.com/office/drawing/2014/main" id="{9C9931B3-6019-FF92-E696-48F17BE6FCDD}"/>
              </a:ext>
            </a:extLst>
          </p:cNvPr>
          <p:cNvGraphicFramePr>
            <a:graphicFrameLocks noGrp="1"/>
          </p:cNvGraphicFramePr>
          <p:nvPr>
            <p:ph idx="1"/>
            <p:extLst>
              <p:ext uri="{D42A27DB-BD31-4B8C-83A1-F6EECF244321}">
                <p14:modId xmlns:p14="http://schemas.microsoft.com/office/powerpoint/2010/main" val="2829613563"/>
              </p:ext>
            </p:extLst>
          </p:nvPr>
        </p:nvGraphicFramePr>
        <p:xfrm>
          <a:off x="567882" y="1860605"/>
          <a:ext cx="4033930" cy="2749590"/>
        </p:xfrm>
        <a:graphic>
          <a:graphicData uri="http://schemas.openxmlformats.org/drawingml/2006/table">
            <a:tbl>
              <a:tblPr firstRow="1" bandRow="1">
                <a:tableStyleId>{2D5ABB26-0587-4C30-8999-92F81FD0307C}</a:tableStyleId>
              </a:tblPr>
              <a:tblGrid>
                <a:gridCol w="751663">
                  <a:extLst>
                    <a:ext uri="{9D8B030D-6E8A-4147-A177-3AD203B41FA5}">
                      <a16:colId xmlns:a16="http://schemas.microsoft.com/office/drawing/2014/main" val="1394653570"/>
                    </a:ext>
                  </a:extLst>
                </a:gridCol>
                <a:gridCol w="1200053">
                  <a:extLst>
                    <a:ext uri="{9D8B030D-6E8A-4147-A177-3AD203B41FA5}">
                      <a16:colId xmlns:a16="http://schemas.microsoft.com/office/drawing/2014/main" val="2015362514"/>
                    </a:ext>
                  </a:extLst>
                </a:gridCol>
                <a:gridCol w="1041107">
                  <a:extLst>
                    <a:ext uri="{9D8B030D-6E8A-4147-A177-3AD203B41FA5}">
                      <a16:colId xmlns:a16="http://schemas.microsoft.com/office/drawing/2014/main" val="2439060713"/>
                    </a:ext>
                  </a:extLst>
                </a:gridCol>
                <a:gridCol w="1041107">
                  <a:extLst>
                    <a:ext uri="{9D8B030D-6E8A-4147-A177-3AD203B41FA5}">
                      <a16:colId xmlns:a16="http://schemas.microsoft.com/office/drawing/2014/main" val="1941187402"/>
                    </a:ext>
                  </a:extLst>
                </a:gridCol>
              </a:tblGrid>
              <a:tr h="367038">
                <a:tc>
                  <a:txBody>
                    <a:bodyPr/>
                    <a:lstStyle/>
                    <a:p>
                      <a:r>
                        <a:rPr kumimoji="1" lang="ja-JP" altLang="en-US" dirty="0"/>
                        <a:t>課題番号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計画規模</a:t>
                      </a:r>
                      <a:r>
                        <a:rPr kumimoji="1" lang="en-US" altLang="ja-JP" dirty="0"/>
                        <a:t>(LOC)</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実績規模</a:t>
                      </a:r>
                      <a:r>
                        <a:rPr kumimoji="1" lang="en-US" altLang="ja-JP" dirty="0"/>
                        <a:t>(LOC)</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規模見積もり誤差</a:t>
                      </a:r>
                      <a:r>
                        <a:rPr kumimoji="1" lang="en-US" altLang="ja-JP" dirty="0"/>
                        <a:t>(%)</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3410626"/>
                  </a:ext>
                </a:extLst>
              </a:tr>
              <a:tr h="367038">
                <a:tc>
                  <a:txBody>
                    <a:bodyPr/>
                    <a:lstStyle/>
                    <a:p>
                      <a:r>
                        <a:rPr kumimoji="1" lang="en-US" altLang="ja-JP" dirty="0"/>
                        <a:t>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tcPr>
                </a:tc>
                <a:tc>
                  <a:txBody>
                    <a:bodyPr/>
                    <a:lstStyle/>
                    <a:p>
                      <a:r>
                        <a:rPr kumimoji="1" lang="en-US" altLang="ja-JP" dirty="0"/>
                        <a:t>(97)</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tcPr>
                </a:tc>
                <a:extLst>
                  <a:ext uri="{0D108BD9-81ED-4DB2-BD59-A6C34878D82A}">
                    <a16:rowId xmlns:a16="http://schemas.microsoft.com/office/drawing/2014/main" val="3977655685"/>
                  </a:ext>
                </a:extLst>
              </a:tr>
              <a:tr h="367038">
                <a:tc>
                  <a:txBody>
                    <a:bodyPr/>
                    <a:lstStyle/>
                    <a:p>
                      <a:r>
                        <a:rPr kumimoji="1" lang="en-US" altLang="ja-JP" dirty="0"/>
                        <a:t>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70</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111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+58.57</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5569576"/>
                  </a:ext>
                </a:extLst>
              </a:tr>
              <a:tr h="367038">
                <a:tc>
                  <a:txBody>
                    <a:bodyPr/>
                    <a:lstStyle/>
                    <a:p>
                      <a:r>
                        <a:rPr kumimoji="1" lang="en-US" altLang="ja-JP" dirty="0"/>
                        <a:t>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123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118</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-4.07</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2951007"/>
                  </a:ext>
                </a:extLst>
              </a:tr>
              <a:tr h="367038">
                <a:tc>
                  <a:txBody>
                    <a:bodyPr/>
                    <a:lstStyle/>
                    <a:p>
                      <a:r>
                        <a:rPr kumimoji="1" lang="en-US" altLang="ja-JP" dirty="0"/>
                        <a:t>4</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78.3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45</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-42.53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236550"/>
                  </a:ext>
                </a:extLst>
              </a:tr>
              <a:tr h="367038">
                <a:tc>
                  <a:txBody>
                    <a:bodyPr/>
                    <a:lstStyle/>
                    <a:p>
                      <a:r>
                        <a:rPr kumimoji="1" lang="ja-JP" altLang="en-US" dirty="0"/>
                        <a:t>合計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271.3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274</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+1.00</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0960020"/>
                  </a:ext>
                </a:extLst>
              </a:tr>
            </a:tbl>
          </a:graphicData>
        </a:graphic>
      </p:graphicFrame>
      <p:sp>
        <p:nvSpPr>
          <p:cNvPr id="9" name="テキスト ボックス 8">
            <a:extLst>
              <a:ext uri="{FF2B5EF4-FFF2-40B4-BE49-F238E27FC236}">
                <a16:creationId xmlns:a16="http://schemas.microsoft.com/office/drawing/2014/main" id="{E4EA95B9-C23C-54CA-176B-ADAD220894CF}"/>
              </a:ext>
            </a:extLst>
          </p:cNvPr>
          <p:cNvSpPr txBox="1"/>
          <p:nvPr/>
        </p:nvSpPr>
        <p:spPr>
          <a:xfrm>
            <a:off x="450024" y="4610195"/>
            <a:ext cx="6378669" cy="1815882"/>
          </a:xfrm>
          <a:prstGeom prst="rect">
            <a:avLst/>
          </a:prstGeom>
          <a:noFill/>
        </p:spPr>
        <p:txBody>
          <a:bodyPr wrap="none" rtlCol="0">
            <a:spAutoFit/>
          </a:bodyPr>
          <a:lstStyle/>
          <a:p>
            <a:pPr algn="l"/>
            <a:r>
              <a:rPr kumimoji="1" lang="ja-JP" altLang="en-US" sz="2800" dirty="0">
                <a:latin typeface="UD デジタル 教科書体 NK-R" panose="02020400000000000000" pitchFamily="18" charset="-128"/>
                <a:ea typeface="UD デジタル 教科書体 NK-R" panose="02020400000000000000" pitchFamily="18" charset="-128"/>
              </a:rPr>
              <a:t>平均</a:t>
            </a:r>
            <a:r>
              <a:rPr kumimoji="1" lang="en-US" altLang="ja-JP"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(58.57-4.07-42.53)/3=+3.99</a:t>
            </a:r>
            <a:endParaRPr kumimoji="1" lang="en-US" altLang="ja-JP" sz="2800" dirty="0">
              <a:latin typeface="UD デジタル 教科書体 NK-R" panose="02020400000000000000" pitchFamily="18" charset="-128"/>
              <a:ea typeface="UD デジタル 教科書体 NK-R" panose="02020400000000000000" pitchFamily="18" charset="-128"/>
            </a:endParaRPr>
          </a:p>
          <a:p>
            <a:pPr algn="l"/>
            <a:r>
              <a:rPr kumimoji="1" lang="ja-JP" altLang="en-US" sz="2800" dirty="0">
                <a:latin typeface="UD デジタル 教科書体 NK-R" panose="02020400000000000000" pitchFamily="18" charset="-128"/>
                <a:ea typeface="UD デジタル 教科書体 NK-R" panose="02020400000000000000" pitchFamily="18" charset="-128"/>
              </a:rPr>
              <a:t>最大値：</a:t>
            </a:r>
            <a:r>
              <a:rPr kumimoji="1" lang="en-US" altLang="ja-JP" sz="2800" dirty="0">
                <a:latin typeface="UD デジタル 教科書体 NK-R" panose="02020400000000000000" pitchFamily="18" charset="-128"/>
                <a:ea typeface="UD デジタル 教科書体 NK-R" panose="02020400000000000000" pitchFamily="18" charset="-128"/>
              </a:rPr>
              <a:t>+58.57</a:t>
            </a:r>
          </a:p>
          <a:p>
            <a:pPr algn="l"/>
            <a:r>
              <a:rPr kumimoji="1" lang="ja-JP" altLang="en-US" sz="2800" dirty="0">
                <a:latin typeface="UD デジタル 教科書体 NK-R" panose="02020400000000000000" pitchFamily="18" charset="-128"/>
                <a:ea typeface="UD デジタル 教科書体 NK-R" panose="02020400000000000000" pitchFamily="18" charset="-128"/>
              </a:rPr>
              <a:t>最小値：</a:t>
            </a:r>
            <a:r>
              <a:rPr kumimoji="1" lang="en-US" altLang="ja-JP" sz="2800" dirty="0">
                <a:latin typeface="UD デジタル 教科書体 NK-R" panose="02020400000000000000" pitchFamily="18" charset="-128"/>
                <a:ea typeface="UD デジタル 教科書体 NK-R" panose="02020400000000000000" pitchFamily="18" charset="-128"/>
              </a:rPr>
              <a:t>-42.53</a:t>
            </a:r>
          </a:p>
          <a:p>
            <a:pPr algn="l"/>
            <a:r>
              <a:rPr kumimoji="1" lang="ja-JP" altLang="en-US" sz="2800" dirty="0">
                <a:latin typeface="UD デジタル 教科書体 NK-R" panose="02020400000000000000" pitchFamily="18" charset="-128"/>
                <a:ea typeface="UD デジタル 教科書体 NK-R" panose="02020400000000000000" pitchFamily="18" charset="-128"/>
              </a:rPr>
              <a:t>累積：</a:t>
            </a:r>
            <a:r>
              <a:rPr kumimoji="1" lang="en-US" altLang="ja-JP" sz="2800" dirty="0">
                <a:latin typeface="UD デジタル 教科書体 NK-R" panose="02020400000000000000" pitchFamily="18" charset="-128"/>
                <a:ea typeface="UD デジタル 教科書体 NK-R" panose="02020400000000000000" pitchFamily="18" charset="-128"/>
              </a:rPr>
              <a:t>+1.00</a:t>
            </a:r>
            <a:endParaRPr kumimoji="1" lang="ja-JP" altLang="en-US" sz="2800" dirty="0">
              <a:latin typeface="UD デジタル 教科書体 NK-R" panose="02020400000000000000" pitchFamily="18" charset="-128"/>
              <a:ea typeface="UD デジタル 教科書体 NK-R" panose="02020400000000000000" pitchFamily="18" charset="-128"/>
            </a:endParaRPr>
          </a:p>
        </p:txBody>
      </p:sp>
      <p:sp>
        <p:nvSpPr>
          <p:cNvPr id="10" name="テキスト ボックス 9">
            <a:extLst>
              <a:ext uri="{FF2B5EF4-FFF2-40B4-BE49-F238E27FC236}">
                <a16:creationId xmlns:a16="http://schemas.microsoft.com/office/drawing/2014/main" id="{9365E445-D9B9-5D93-E321-9D6E62A966A4}"/>
              </a:ext>
            </a:extLst>
          </p:cNvPr>
          <p:cNvSpPr txBox="1"/>
          <p:nvPr/>
        </p:nvSpPr>
        <p:spPr>
          <a:xfrm>
            <a:off x="4813558" y="1860605"/>
            <a:ext cx="4030270" cy="523220"/>
          </a:xfrm>
          <a:prstGeom prst="rect">
            <a:avLst/>
          </a:prstGeom>
          <a:noFill/>
        </p:spPr>
        <p:txBody>
          <a:bodyPr wrap="none" rtlCol="0">
            <a:spAutoFit/>
          </a:bodyPr>
          <a:lstStyle/>
          <a:p>
            <a:pPr algn="l"/>
            <a:r>
              <a:rPr kumimoji="1" lang="ja-JP" altLang="en-US" sz="2800" dirty="0">
                <a:latin typeface="UD デジタル 教科書体 NK-R" panose="02020400000000000000" pitchFamily="18" charset="-128"/>
                <a:ea typeface="UD デジタル 教科書体 NK-R" panose="02020400000000000000" pitchFamily="18" charset="-128"/>
              </a:rPr>
              <a:t>誤差</a:t>
            </a:r>
            <a:r>
              <a:rPr kumimoji="1" lang="en-US" altLang="ja-JP" sz="2800" dirty="0">
                <a:latin typeface="UD デジタル 教科書体 NK-R" panose="02020400000000000000" pitchFamily="18" charset="-128"/>
                <a:ea typeface="UD デジタル 教科書体 NK-R" panose="02020400000000000000" pitchFamily="18" charset="-128"/>
              </a:rPr>
              <a:t>=(</a:t>
            </a:r>
            <a:r>
              <a:rPr kumimoji="1" lang="ja-JP" altLang="en-US" sz="2800" dirty="0">
                <a:latin typeface="UD デジタル 教科書体 NK-R" panose="02020400000000000000" pitchFamily="18" charset="-128"/>
                <a:ea typeface="UD デジタル 教科書体 NK-R" panose="02020400000000000000" pitchFamily="18" charset="-128"/>
              </a:rPr>
              <a:t>実績</a:t>
            </a:r>
            <a:r>
              <a:rPr kumimoji="1" lang="en-US" altLang="ja-JP" sz="2800" dirty="0">
                <a:latin typeface="UD デジタル 教科書体 NK-R" panose="02020400000000000000" pitchFamily="18" charset="-128"/>
                <a:ea typeface="UD デジタル 教科書体 NK-R" panose="02020400000000000000" pitchFamily="18" charset="-128"/>
              </a:rPr>
              <a:t>-</a:t>
            </a:r>
            <a:r>
              <a:rPr kumimoji="1" lang="ja-JP" altLang="en-US" sz="2800" dirty="0">
                <a:latin typeface="UD デジタル 教科書体 NK-R" panose="02020400000000000000" pitchFamily="18" charset="-128"/>
                <a:ea typeface="UD デジタル 教科書体 NK-R" panose="02020400000000000000" pitchFamily="18" charset="-128"/>
              </a:rPr>
              <a:t>計画</a:t>
            </a:r>
            <a:r>
              <a:rPr kumimoji="1" lang="en-US" altLang="ja-JP" sz="2800" dirty="0">
                <a:latin typeface="UD デジタル 教科書体 NK-R" panose="02020400000000000000" pitchFamily="18" charset="-128"/>
                <a:ea typeface="UD デジタル 教科書体 NK-R" panose="02020400000000000000" pitchFamily="18" charset="-128"/>
              </a:rPr>
              <a:t>)/</a:t>
            </a:r>
            <a:r>
              <a:rPr kumimoji="1" lang="ja-JP" altLang="en-US" sz="2800" dirty="0">
                <a:latin typeface="UD デジタル 教科書体 NK-R" panose="02020400000000000000" pitchFamily="18" charset="-128"/>
                <a:ea typeface="UD デジタル 教科書体 NK-R" panose="02020400000000000000" pitchFamily="18" charset="-128"/>
              </a:rPr>
              <a:t>計画</a:t>
            </a:r>
          </a:p>
        </p:txBody>
      </p:sp>
    </p:spTree>
    <p:extLst>
      <p:ext uri="{BB962C8B-B14F-4D97-AF65-F5344CB8AC3E}">
        <p14:creationId xmlns:p14="http://schemas.microsoft.com/office/powerpoint/2010/main" val="119617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C0F4A4-F09E-D9AB-6C1F-345D350FA5CB}"/>
              </a:ext>
            </a:extLst>
          </p:cNvPr>
          <p:cNvSpPr>
            <a:spLocks noGrp="1"/>
          </p:cNvSpPr>
          <p:nvPr>
            <p:ph type="title"/>
          </p:nvPr>
        </p:nvSpPr>
        <p:spPr>
          <a:xfrm>
            <a:off x="411480" y="286604"/>
            <a:ext cx="8321040" cy="1450757"/>
          </a:xfrm>
        </p:spPr>
        <p:txBody>
          <a:bodyPr>
            <a:normAutofit/>
          </a:bodyPr>
          <a:lstStyle/>
          <a:p>
            <a:r>
              <a:rPr kumimoji="1" lang="en-US" altLang="ja-JP" sz="4400" dirty="0"/>
              <a:t>1.2,1.3 </a:t>
            </a:r>
            <a:r>
              <a:rPr kumimoji="1" lang="ja-JP" altLang="en-US" sz="4400" dirty="0"/>
              <a:t>規模見積もり誤差</a:t>
            </a:r>
            <a:r>
              <a:rPr lang="ja-JP" altLang="en-US" sz="4400" dirty="0"/>
              <a:t>グラフ</a:t>
            </a:r>
            <a:endParaRPr kumimoji="1" lang="ja-JP" altLang="en-US" sz="4400" dirty="0"/>
          </a:p>
        </p:txBody>
      </p:sp>
      <p:sp>
        <p:nvSpPr>
          <p:cNvPr id="4" name="日付プレースホルダー 3">
            <a:extLst>
              <a:ext uri="{FF2B5EF4-FFF2-40B4-BE49-F238E27FC236}">
                <a16:creationId xmlns:a16="http://schemas.microsoft.com/office/drawing/2014/main" id="{D11908EA-14BC-E9BD-7980-DCE70D6E2A39}"/>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26149944-1C6E-4FE4-3427-1B90AE1B451B}"/>
              </a:ext>
            </a:extLst>
          </p:cNvPr>
          <p:cNvSpPr>
            <a:spLocks noGrp="1"/>
          </p:cNvSpPr>
          <p:nvPr>
            <p:ph type="sldNum" sz="quarter" idx="12"/>
          </p:nvPr>
        </p:nvSpPr>
        <p:spPr/>
        <p:txBody>
          <a:bodyPr/>
          <a:lstStyle/>
          <a:p>
            <a:fld id="{19A2C8B9-04F9-4575-A401-B86E4A91B12C}" type="slidenum">
              <a:rPr kumimoji="1" lang="ja-JP" altLang="en-US" smtClean="0"/>
              <a:pPr/>
              <a:t>5</a:t>
            </a:fld>
            <a:endParaRPr kumimoji="1" lang="ja-JP" altLang="en-US"/>
          </a:p>
        </p:txBody>
      </p:sp>
      <p:pic>
        <p:nvPicPr>
          <p:cNvPr id="11" name="図 10">
            <a:extLst>
              <a:ext uri="{FF2B5EF4-FFF2-40B4-BE49-F238E27FC236}">
                <a16:creationId xmlns:a16="http://schemas.microsoft.com/office/drawing/2014/main" id="{AFB96D00-BC3C-DD50-FB94-79A8ED3F700B}"/>
              </a:ext>
            </a:extLst>
          </p:cNvPr>
          <p:cNvPicPr>
            <a:picLocks noChangeAspect="1"/>
          </p:cNvPicPr>
          <p:nvPr/>
        </p:nvPicPr>
        <p:blipFill>
          <a:blip r:embed="rId2"/>
          <a:stretch>
            <a:fillRect/>
          </a:stretch>
        </p:blipFill>
        <p:spPr>
          <a:xfrm>
            <a:off x="1349173" y="1737361"/>
            <a:ext cx="6445654" cy="3874250"/>
          </a:xfrm>
          <a:prstGeom prst="rect">
            <a:avLst/>
          </a:prstGeom>
        </p:spPr>
      </p:pic>
      <p:sp>
        <p:nvSpPr>
          <p:cNvPr id="12" name="テキスト ボックス 11">
            <a:extLst>
              <a:ext uri="{FF2B5EF4-FFF2-40B4-BE49-F238E27FC236}">
                <a16:creationId xmlns:a16="http://schemas.microsoft.com/office/drawing/2014/main" id="{57AC2A24-4C82-E0E3-F00C-D158F73217CF}"/>
              </a:ext>
            </a:extLst>
          </p:cNvPr>
          <p:cNvSpPr txBox="1"/>
          <p:nvPr/>
        </p:nvSpPr>
        <p:spPr>
          <a:xfrm>
            <a:off x="88322" y="5505679"/>
            <a:ext cx="9187879" cy="954107"/>
          </a:xfrm>
          <a:prstGeom prst="rect">
            <a:avLst/>
          </a:prstGeom>
          <a:noFill/>
        </p:spPr>
        <p:txBody>
          <a:bodyPr wrap="square" rtlCol="0">
            <a:spAutoFit/>
          </a:bodyPr>
          <a:lstStyle/>
          <a:p>
            <a:pPr algn="l"/>
            <a:r>
              <a:rPr kumimoji="1" lang="ja-JP" altLang="en-US" sz="2800" dirty="0">
                <a:latin typeface="UD デジタル 教科書体 NK-R" panose="02020400000000000000" pitchFamily="18" charset="-128"/>
                <a:ea typeface="UD デジタル 教科書体 NK-R" panose="02020400000000000000" pitchFamily="18" charset="-128"/>
              </a:rPr>
              <a:t>平均</a:t>
            </a:r>
            <a:r>
              <a:rPr kumimoji="1" lang="en-US" altLang="ja-JP" sz="2800" dirty="0">
                <a:latin typeface="UD デジタル 教科書体 NK-R" panose="02020400000000000000" pitchFamily="18" charset="-128"/>
                <a:ea typeface="UD デジタル 教科書体 NK-R" panose="02020400000000000000" pitchFamily="18" charset="-128"/>
              </a:rPr>
              <a:t>,</a:t>
            </a:r>
            <a:r>
              <a:rPr kumimoji="1" lang="ja-JP" altLang="en-US" sz="2800" dirty="0">
                <a:latin typeface="UD デジタル 教科書体 NK-R" panose="02020400000000000000" pitchFamily="18" charset="-128"/>
                <a:ea typeface="UD デジタル 教科書体 NK-R" panose="02020400000000000000" pitchFamily="18" charset="-128"/>
              </a:rPr>
              <a:t>累積は小さい値になっているが課題</a:t>
            </a:r>
            <a:r>
              <a:rPr kumimoji="1" lang="en-US" altLang="ja-JP" sz="2800" dirty="0">
                <a:latin typeface="UD デジタル 教科書体 NK-R" panose="02020400000000000000" pitchFamily="18" charset="-128"/>
                <a:ea typeface="UD デジタル 教科書体 NK-R" panose="02020400000000000000" pitchFamily="18" charset="-128"/>
              </a:rPr>
              <a:t>2,4</a:t>
            </a:r>
            <a:r>
              <a:rPr kumimoji="1" lang="ja-JP" altLang="en-US" sz="2800" dirty="0">
                <a:latin typeface="UD デジタル 教科書体 NK-R" panose="02020400000000000000" pitchFamily="18" charset="-128"/>
                <a:ea typeface="UD デジタル 教科書体 NK-R" panose="02020400000000000000" pitchFamily="18" charset="-128"/>
              </a:rPr>
              <a:t>はかなり誤差がある。</a:t>
            </a:r>
          </a:p>
        </p:txBody>
      </p:sp>
    </p:spTree>
    <p:extLst>
      <p:ext uri="{BB962C8B-B14F-4D97-AF65-F5344CB8AC3E}">
        <p14:creationId xmlns:p14="http://schemas.microsoft.com/office/powerpoint/2010/main" val="491840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AA3A25-1D61-ADB8-A8E5-B5C1370388AE}"/>
              </a:ext>
            </a:extLst>
          </p:cNvPr>
          <p:cNvSpPr>
            <a:spLocks noGrp="1"/>
          </p:cNvSpPr>
          <p:nvPr>
            <p:ph type="title"/>
          </p:nvPr>
        </p:nvSpPr>
        <p:spPr>
          <a:xfrm>
            <a:off x="282741" y="263527"/>
            <a:ext cx="8710863" cy="1450757"/>
          </a:xfrm>
        </p:spPr>
        <p:txBody>
          <a:bodyPr>
            <a:normAutofit/>
          </a:bodyPr>
          <a:lstStyle/>
          <a:p>
            <a:r>
              <a:rPr kumimoji="1" lang="ja-JP" altLang="en-US" sz="4000" dirty="0"/>
              <a:t>規模見積もり誤差の原因と改善</a:t>
            </a:r>
          </a:p>
        </p:txBody>
      </p:sp>
      <p:sp>
        <p:nvSpPr>
          <p:cNvPr id="3" name="コンテンツ プレースホルダー 2">
            <a:extLst>
              <a:ext uri="{FF2B5EF4-FFF2-40B4-BE49-F238E27FC236}">
                <a16:creationId xmlns:a16="http://schemas.microsoft.com/office/drawing/2014/main" id="{A64095C6-A955-544E-122D-E19496F3AF85}"/>
              </a:ext>
            </a:extLst>
          </p:cNvPr>
          <p:cNvSpPr>
            <a:spLocks noGrp="1"/>
          </p:cNvSpPr>
          <p:nvPr>
            <p:ph idx="1"/>
          </p:nvPr>
        </p:nvSpPr>
        <p:spPr/>
        <p:txBody>
          <a:bodyPr/>
          <a:lstStyle/>
          <a:p>
            <a:pPr marL="0" indent="0">
              <a:buNone/>
            </a:pPr>
            <a:r>
              <a:rPr kumimoji="1" lang="ja-JP" altLang="en-US" dirty="0"/>
              <a:t>原因：</a:t>
            </a:r>
            <a:endParaRPr kumimoji="1" lang="en-US" altLang="ja-JP" dirty="0"/>
          </a:p>
          <a:p>
            <a:r>
              <a:rPr kumimoji="1" lang="ja-JP" altLang="en-US" dirty="0"/>
              <a:t>計画段階で実装をイメージできていない</a:t>
            </a:r>
            <a:endParaRPr kumimoji="1" lang="en-US" altLang="ja-JP" dirty="0"/>
          </a:p>
          <a:p>
            <a:r>
              <a:rPr kumimoji="1" lang="ja-JP" altLang="en-US" dirty="0"/>
              <a:t>ベースコードの追加部分の見積もりが雑</a:t>
            </a:r>
            <a:endParaRPr kumimoji="1" lang="en-US" altLang="ja-JP" dirty="0"/>
          </a:p>
          <a:p>
            <a:pPr marL="0" indent="0">
              <a:buNone/>
            </a:pPr>
            <a:r>
              <a:rPr lang="ja-JP" altLang="en-US" dirty="0"/>
              <a:t>改善：</a:t>
            </a:r>
            <a:endParaRPr lang="en-US" altLang="ja-JP" dirty="0"/>
          </a:p>
          <a:p>
            <a:r>
              <a:rPr kumimoji="1" lang="ja-JP" altLang="en-US" dirty="0"/>
              <a:t>実装をイメージして、追加部分に関してもプロキシの規模範囲を利用した根拠のある見積もりを行う</a:t>
            </a:r>
          </a:p>
        </p:txBody>
      </p:sp>
      <p:sp>
        <p:nvSpPr>
          <p:cNvPr id="4" name="日付プレースホルダー 3">
            <a:extLst>
              <a:ext uri="{FF2B5EF4-FFF2-40B4-BE49-F238E27FC236}">
                <a16:creationId xmlns:a16="http://schemas.microsoft.com/office/drawing/2014/main" id="{A7B73281-FEC8-106E-18F4-6C53B41BF8FA}"/>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BF029911-6CA3-C650-80AF-25072219713F}"/>
              </a:ext>
            </a:extLst>
          </p:cNvPr>
          <p:cNvSpPr>
            <a:spLocks noGrp="1"/>
          </p:cNvSpPr>
          <p:nvPr>
            <p:ph type="sldNum" sz="quarter" idx="12"/>
          </p:nvPr>
        </p:nvSpPr>
        <p:spPr/>
        <p:txBody>
          <a:bodyPr/>
          <a:lstStyle/>
          <a:p>
            <a:fld id="{19A2C8B9-04F9-4575-A401-B86E4A91B12C}" type="slidenum">
              <a:rPr kumimoji="1" lang="ja-JP" altLang="en-US" smtClean="0"/>
              <a:pPr/>
              <a:t>6</a:t>
            </a:fld>
            <a:endParaRPr kumimoji="1" lang="ja-JP" altLang="en-US"/>
          </a:p>
        </p:txBody>
      </p:sp>
    </p:spTree>
    <p:extLst>
      <p:ext uri="{BB962C8B-B14F-4D97-AF65-F5344CB8AC3E}">
        <p14:creationId xmlns:p14="http://schemas.microsoft.com/office/powerpoint/2010/main" val="108258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7E3C85-E68F-E537-39B1-BA644C9E54F9}"/>
              </a:ext>
            </a:extLst>
          </p:cNvPr>
          <p:cNvSpPr>
            <a:spLocks noGrp="1"/>
          </p:cNvSpPr>
          <p:nvPr>
            <p:ph type="title"/>
          </p:nvPr>
        </p:nvSpPr>
        <p:spPr/>
        <p:txBody>
          <a:bodyPr/>
          <a:lstStyle/>
          <a:p>
            <a:r>
              <a:rPr lang="en-US" altLang="ja-JP" dirty="0"/>
              <a:t>2</a:t>
            </a:r>
            <a:r>
              <a:rPr kumimoji="1" lang="en-US" altLang="ja-JP" dirty="0"/>
              <a:t>.1 </a:t>
            </a:r>
            <a:r>
              <a:rPr kumimoji="1" lang="ja-JP" altLang="en-US" dirty="0"/>
              <a:t>実績時間</a:t>
            </a:r>
            <a:r>
              <a:rPr kumimoji="1" lang="en-US" altLang="ja-JP" dirty="0"/>
              <a:t>(h)</a:t>
            </a:r>
            <a:endParaRPr kumimoji="1" lang="ja-JP" altLang="en-US" dirty="0"/>
          </a:p>
        </p:txBody>
      </p:sp>
      <p:graphicFrame>
        <p:nvGraphicFramePr>
          <p:cNvPr id="6" name="コンテンツ プレースホルダー 5">
            <a:extLst>
              <a:ext uri="{FF2B5EF4-FFF2-40B4-BE49-F238E27FC236}">
                <a16:creationId xmlns:a16="http://schemas.microsoft.com/office/drawing/2014/main" id="{17A6A3DF-A615-E577-58FE-E89468F3149F}"/>
              </a:ext>
            </a:extLst>
          </p:cNvPr>
          <p:cNvGraphicFramePr>
            <a:graphicFrameLocks noGrp="1"/>
          </p:cNvGraphicFramePr>
          <p:nvPr>
            <p:ph idx="1"/>
            <p:extLst>
              <p:ext uri="{D42A27DB-BD31-4B8C-83A1-F6EECF244321}">
                <p14:modId xmlns:p14="http://schemas.microsoft.com/office/powerpoint/2010/main" val="3413923740"/>
              </p:ext>
            </p:extLst>
          </p:nvPr>
        </p:nvGraphicFramePr>
        <p:xfrm>
          <a:off x="822325" y="1846262"/>
          <a:ext cx="2644444" cy="2108232"/>
        </p:xfrm>
        <a:graphic>
          <a:graphicData uri="http://schemas.openxmlformats.org/drawingml/2006/table">
            <a:tbl>
              <a:tblPr firstRow="1" bandRow="1">
                <a:tableStyleId>{2D5ABB26-0587-4C30-8999-92F81FD0307C}</a:tableStyleId>
              </a:tblPr>
              <a:tblGrid>
                <a:gridCol w="1322222">
                  <a:extLst>
                    <a:ext uri="{9D8B030D-6E8A-4147-A177-3AD203B41FA5}">
                      <a16:colId xmlns:a16="http://schemas.microsoft.com/office/drawing/2014/main" val="1394653570"/>
                    </a:ext>
                  </a:extLst>
                </a:gridCol>
                <a:gridCol w="1322222">
                  <a:extLst>
                    <a:ext uri="{9D8B030D-6E8A-4147-A177-3AD203B41FA5}">
                      <a16:colId xmlns:a16="http://schemas.microsoft.com/office/drawing/2014/main" val="2439060713"/>
                    </a:ext>
                  </a:extLst>
                </a:gridCol>
              </a:tblGrid>
              <a:tr h="367038">
                <a:tc>
                  <a:txBody>
                    <a:bodyPr/>
                    <a:lstStyle/>
                    <a:p>
                      <a:r>
                        <a:rPr kumimoji="1" lang="ja-JP" altLang="en-US" dirty="0"/>
                        <a:t>課題番号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実績時間</a:t>
                      </a:r>
                      <a:r>
                        <a:rPr kumimoji="1" lang="en-US" altLang="ja-JP" dirty="0"/>
                        <a:t>(h)</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3410626"/>
                  </a:ext>
                </a:extLst>
              </a:tr>
              <a:tr h="367038">
                <a:tc>
                  <a:txBody>
                    <a:bodyPr/>
                    <a:lstStyle/>
                    <a:p>
                      <a:r>
                        <a:rPr kumimoji="1" lang="en-US" altLang="ja-JP" dirty="0"/>
                        <a:t>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6.65</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7655685"/>
                  </a:ext>
                </a:extLst>
              </a:tr>
              <a:tr h="367038">
                <a:tc>
                  <a:txBody>
                    <a:bodyPr/>
                    <a:lstStyle/>
                    <a:p>
                      <a:r>
                        <a:rPr kumimoji="1" lang="en-US" altLang="ja-JP" dirty="0"/>
                        <a:t>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6.68</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5569576"/>
                  </a:ext>
                </a:extLst>
              </a:tr>
              <a:tr h="367038">
                <a:tc>
                  <a:txBody>
                    <a:bodyPr/>
                    <a:lstStyle/>
                    <a:p>
                      <a:r>
                        <a:rPr kumimoji="1" lang="en-US" altLang="ja-JP" dirty="0"/>
                        <a:t>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9.62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2951007"/>
                  </a:ext>
                </a:extLst>
              </a:tr>
              <a:tr h="367038">
                <a:tc>
                  <a:txBody>
                    <a:bodyPr/>
                    <a:lstStyle/>
                    <a:p>
                      <a:r>
                        <a:rPr kumimoji="1" lang="en-US" altLang="ja-JP" dirty="0"/>
                        <a:t>4</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4.77</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236550"/>
                  </a:ext>
                </a:extLst>
              </a:tr>
            </a:tbl>
          </a:graphicData>
        </a:graphic>
      </p:graphicFrame>
      <p:sp>
        <p:nvSpPr>
          <p:cNvPr id="4" name="日付プレースホルダー 3">
            <a:extLst>
              <a:ext uri="{FF2B5EF4-FFF2-40B4-BE49-F238E27FC236}">
                <a16:creationId xmlns:a16="http://schemas.microsoft.com/office/drawing/2014/main" id="{9FA04B52-CD9B-3D29-C794-97074018710B}"/>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E07D8FE7-471F-205E-B6AA-31AF950839E9}"/>
              </a:ext>
            </a:extLst>
          </p:cNvPr>
          <p:cNvSpPr>
            <a:spLocks noGrp="1"/>
          </p:cNvSpPr>
          <p:nvPr>
            <p:ph type="sldNum" sz="quarter" idx="12"/>
          </p:nvPr>
        </p:nvSpPr>
        <p:spPr/>
        <p:txBody>
          <a:bodyPr/>
          <a:lstStyle/>
          <a:p>
            <a:fld id="{19A2C8B9-04F9-4575-A401-B86E4A91B12C}" type="slidenum">
              <a:rPr kumimoji="1" lang="ja-JP" altLang="en-US" smtClean="0"/>
              <a:pPr/>
              <a:t>7</a:t>
            </a:fld>
            <a:endParaRPr kumimoji="1" lang="ja-JP" altLang="en-US"/>
          </a:p>
        </p:txBody>
      </p:sp>
      <p:sp>
        <p:nvSpPr>
          <p:cNvPr id="7" name="テキスト ボックス 6">
            <a:extLst>
              <a:ext uri="{FF2B5EF4-FFF2-40B4-BE49-F238E27FC236}">
                <a16:creationId xmlns:a16="http://schemas.microsoft.com/office/drawing/2014/main" id="{83CDC62C-5BA3-99BE-7DAE-22612C321F17}"/>
              </a:ext>
            </a:extLst>
          </p:cNvPr>
          <p:cNvSpPr txBox="1"/>
          <p:nvPr/>
        </p:nvSpPr>
        <p:spPr>
          <a:xfrm>
            <a:off x="557920" y="4283095"/>
            <a:ext cx="7064755" cy="1384995"/>
          </a:xfrm>
          <a:prstGeom prst="rect">
            <a:avLst/>
          </a:prstGeom>
          <a:noFill/>
        </p:spPr>
        <p:txBody>
          <a:bodyPr wrap="none" rtlCol="0">
            <a:spAutoFit/>
          </a:bodyPr>
          <a:lstStyle/>
          <a:p>
            <a:pPr algn="l"/>
            <a:r>
              <a:rPr kumimoji="1" lang="ja-JP" altLang="en-US" sz="2800" dirty="0">
                <a:latin typeface="UD デジタル 教科書体 NK-R" panose="02020400000000000000" pitchFamily="18" charset="-128"/>
                <a:ea typeface="UD デジタル 教科書体 NK-R" panose="02020400000000000000" pitchFamily="18" charset="-128"/>
              </a:rPr>
              <a:t>平均：</a:t>
            </a:r>
            <a:r>
              <a:rPr kumimoji="1" lang="en-US" altLang="ja-JP"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(6.65+6.68+9.62+4.77)/4=6.93</a:t>
            </a:r>
          </a:p>
          <a:p>
            <a:pPr algn="l"/>
            <a:r>
              <a:rPr kumimoji="1" lang="ja-JP" altLang="en-US"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最大値：</a:t>
            </a:r>
            <a:r>
              <a:rPr kumimoji="1" lang="en-US" altLang="ja-JP"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9.62</a:t>
            </a:r>
          </a:p>
          <a:p>
            <a:pPr algn="l"/>
            <a:r>
              <a:rPr kumimoji="1" lang="ja-JP" altLang="en-US"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最小値：</a:t>
            </a:r>
            <a:r>
              <a:rPr kumimoji="1" lang="en-US" altLang="ja-JP"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4.77</a:t>
            </a:r>
            <a:endParaRPr kumimoji="1" lang="ja-JP" altLang="en-US" sz="2800" dirty="0">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180503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7E3C85-E68F-E537-39B1-BA644C9E54F9}"/>
              </a:ext>
            </a:extLst>
          </p:cNvPr>
          <p:cNvSpPr>
            <a:spLocks noGrp="1"/>
          </p:cNvSpPr>
          <p:nvPr>
            <p:ph type="title"/>
          </p:nvPr>
        </p:nvSpPr>
        <p:spPr/>
        <p:txBody>
          <a:bodyPr/>
          <a:lstStyle/>
          <a:p>
            <a:r>
              <a:rPr lang="en-US" altLang="ja-JP" dirty="0"/>
              <a:t>2</a:t>
            </a:r>
            <a:r>
              <a:rPr kumimoji="1" lang="en-US" altLang="ja-JP" dirty="0"/>
              <a:t>.1 </a:t>
            </a:r>
            <a:r>
              <a:rPr kumimoji="1" lang="ja-JP" altLang="en-US" dirty="0"/>
              <a:t>実績時間グラフ</a:t>
            </a:r>
          </a:p>
        </p:txBody>
      </p:sp>
      <p:sp>
        <p:nvSpPr>
          <p:cNvPr id="4" name="日付プレースホルダー 3">
            <a:extLst>
              <a:ext uri="{FF2B5EF4-FFF2-40B4-BE49-F238E27FC236}">
                <a16:creationId xmlns:a16="http://schemas.microsoft.com/office/drawing/2014/main" id="{9FA04B52-CD9B-3D29-C794-97074018710B}"/>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E07D8FE7-471F-205E-B6AA-31AF950839E9}"/>
              </a:ext>
            </a:extLst>
          </p:cNvPr>
          <p:cNvSpPr>
            <a:spLocks noGrp="1"/>
          </p:cNvSpPr>
          <p:nvPr>
            <p:ph type="sldNum" sz="quarter" idx="12"/>
          </p:nvPr>
        </p:nvSpPr>
        <p:spPr/>
        <p:txBody>
          <a:bodyPr/>
          <a:lstStyle/>
          <a:p>
            <a:fld id="{19A2C8B9-04F9-4575-A401-B86E4A91B12C}" type="slidenum">
              <a:rPr kumimoji="1" lang="ja-JP" altLang="en-US" smtClean="0"/>
              <a:pPr/>
              <a:t>8</a:t>
            </a:fld>
            <a:endParaRPr kumimoji="1" lang="ja-JP" altLang="en-US"/>
          </a:p>
        </p:txBody>
      </p:sp>
      <p:pic>
        <p:nvPicPr>
          <p:cNvPr id="10" name="図 9">
            <a:extLst>
              <a:ext uri="{FF2B5EF4-FFF2-40B4-BE49-F238E27FC236}">
                <a16:creationId xmlns:a16="http://schemas.microsoft.com/office/drawing/2014/main" id="{DB9AFD0B-95D8-C32A-61F4-0F35163926C2}"/>
              </a:ext>
            </a:extLst>
          </p:cNvPr>
          <p:cNvPicPr>
            <a:picLocks noChangeAspect="1"/>
          </p:cNvPicPr>
          <p:nvPr/>
        </p:nvPicPr>
        <p:blipFill>
          <a:blip r:embed="rId2"/>
          <a:stretch>
            <a:fillRect/>
          </a:stretch>
        </p:blipFill>
        <p:spPr>
          <a:xfrm>
            <a:off x="1432900" y="1743969"/>
            <a:ext cx="6323920" cy="4055720"/>
          </a:xfrm>
          <a:prstGeom prst="rect">
            <a:avLst/>
          </a:prstGeom>
        </p:spPr>
      </p:pic>
      <p:sp>
        <p:nvSpPr>
          <p:cNvPr id="9" name="コンテンツ プレースホルダー 8">
            <a:extLst>
              <a:ext uri="{FF2B5EF4-FFF2-40B4-BE49-F238E27FC236}">
                <a16:creationId xmlns:a16="http://schemas.microsoft.com/office/drawing/2014/main" id="{1A7A838B-3208-0188-66B7-0AC5B5487AF2}"/>
              </a:ext>
            </a:extLst>
          </p:cNvPr>
          <p:cNvSpPr>
            <a:spLocks noGrp="1"/>
          </p:cNvSpPr>
          <p:nvPr>
            <p:ph idx="1"/>
          </p:nvPr>
        </p:nvSpPr>
        <p:spPr>
          <a:xfrm>
            <a:off x="514487" y="5537639"/>
            <a:ext cx="8475277" cy="1005523"/>
          </a:xfrm>
        </p:spPr>
        <p:txBody>
          <a:bodyPr>
            <a:normAutofit lnSpcReduction="10000"/>
          </a:bodyPr>
          <a:lstStyle/>
          <a:p>
            <a:pPr marL="0" indent="0">
              <a:buNone/>
            </a:pPr>
            <a:r>
              <a:rPr lang="ja-JP" altLang="en-US" dirty="0"/>
              <a:t>ベースコードの利用により課題</a:t>
            </a:r>
            <a:r>
              <a:rPr lang="en-US" altLang="ja-JP" dirty="0"/>
              <a:t>4</a:t>
            </a:r>
            <a:r>
              <a:rPr lang="ja-JP" altLang="en-US" dirty="0"/>
              <a:t>の作業時間が少ない</a:t>
            </a:r>
            <a:endParaRPr lang="en-US" altLang="ja-JP" dirty="0"/>
          </a:p>
          <a:p>
            <a:pPr marL="0" indent="0">
              <a:buNone/>
            </a:pPr>
            <a:r>
              <a:rPr lang="ja-JP" altLang="en-US" dirty="0"/>
              <a:t>課題</a:t>
            </a:r>
            <a:r>
              <a:rPr lang="en-US" altLang="ja-JP" dirty="0"/>
              <a:t>3</a:t>
            </a:r>
            <a:r>
              <a:rPr lang="ja-JP" altLang="en-US" dirty="0"/>
              <a:t>は</a:t>
            </a:r>
            <a:r>
              <a:rPr lang="en-US" altLang="ja-JP" dirty="0"/>
              <a:t>1</a:t>
            </a:r>
            <a:r>
              <a:rPr lang="ja-JP" altLang="en-US" dirty="0"/>
              <a:t>つの欠陥除去に</a:t>
            </a:r>
            <a:r>
              <a:rPr lang="en-US" altLang="ja-JP" dirty="0"/>
              <a:t>50</a:t>
            </a:r>
            <a:r>
              <a:rPr lang="ja-JP" altLang="en-US" dirty="0"/>
              <a:t>分かかるなど苦戦</a:t>
            </a:r>
          </a:p>
        </p:txBody>
      </p:sp>
    </p:spTree>
    <p:extLst>
      <p:ext uri="{BB962C8B-B14F-4D97-AF65-F5344CB8AC3E}">
        <p14:creationId xmlns:p14="http://schemas.microsoft.com/office/powerpoint/2010/main" val="848924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C0F4A4-F09E-D9AB-6C1F-345D350FA5CB}"/>
              </a:ext>
            </a:extLst>
          </p:cNvPr>
          <p:cNvSpPr>
            <a:spLocks noGrp="1"/>
          </p:cNvSpPr>
          <p:nvPr>
            <p:ph type="title"/>
          </p:nvPr>
        </p:nvSpPr>
        <p:spPr>
          <a:xfrm>
            <a:off x="411480" y="286604"/>
            <a:ext cx="8321040" cy="1450757"/>
          </a:xfrm>
        </p:spPr>
        <p:txBody>
          <a:bodyPr/>
          <a:lstStyle/>
          <a:p>
            <a:r>
              <a:rPr lang="en-US" altLang="ja-JP" dirty="0"/>
              <a:t>2.2,2.3 </a:t>
            </a:r>
            <a:r>
              <a:rPr lang="ja-JP" altLang="en-US" dirty="0"/>
              <a:t>時間見積もり誤差</a:t>
            </a:r>
            <a:r>
              <a:rPr lang="en-US" altLang="ja-JP" dirty="0"/>
              <a:t>(%)</a:t>
            </a:r>
            <a:endParaRPr kumimoji="1" lang="ja-JP" altLang="en-US" dirty="0"/>
          </a:p>
        </p:txBody>
      </p:sp>
      <p:sp>
        <p:nvSpPr>
          <p:cNvPr id="4" name="日付プレースホルダー 3">
            <a:extLst>
              <a:ext uri="{FF2B5EF4-FFF2-40B4-BE49-F238E27FC236}">
                <a16:creationId xmlns:a16="http://schemas.microsoft.com/office/drawing/2014/main" id="{D11908EA-14BC-E9BD-7980-DCE70D6E2A39}"/>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26149944-1C6E-4FE4-3427-1B90AE1B451B}"/>
              </a:ext>
            </a:extLst>
          </p:cNvPr>
          <p:cNvSpPr>
            <a:spLocks noGrp="1"/>
          </p:cNvSpPr>
          <p:nvPr>
            <p:ph type="sldNum" sz="quarter" idx="12"/>
          </p:nvPr>
        </p:nvSpPr>
        <p:spPr/>
        <p:txBody>
          <a:bodyPr/>
          <a:lstStyle/>
          <a:p>
            <a:fld id="{19A2C8B9-04F9-4575-A401-B86E4A91B12C}" type="slidenum">
              <a:rPr kumimoji="1" lang="ja-JP" altLang="en-US" smtClean="0"/>
              <a:pPr/>
              <a:t>9</a:t>
            </a:fld>
            <a:endParaRPr kumimoji="1" lang="ja-JP" altLang="en-US"/>
          </a:p>
        </p:txBody>
      </p:sp>
      <p:graphicFrame>
        <p:nvGraphicFramePr>
          <p:cNvPr id="8" name="コンテンツ プレースホルダー 5">
            <a:extLst>
              <a:ext uri="{FF2B5EF4-FFF2-40B4-BE49-F238E27FC236}">
                <a16:creationId xmlns:a16="http://schemas.microsoft.com/office/drawing/2014/main" id="{9C9931B3-6019-FF92-E696-48F17BE6FCDD}"/>
              </a:ext>
            </a:extLst>
          </p:cNvPr>
          <p:cNvGraphicFramePr>
            <a:graphicFrameLocks noGrp="1"/>
          </p:cNvGraphicFramePr>
          <p:nvPr>
            <p:ph idx="1"/>
            <p:extLst>
              <p:ext uri="{D42A27DB-BD31-4B8C-83A1-F6EECF244321}">
                <p14:modId xmlns:p14="http://schemas.microsoft.com/office/powerpoint/2010/main" val="642346251"/>
              </p:ext>
            </p:extLst>
          </p:nvPr>
        </p:nvGraphicFramePr>
        <p:xfrm>
          <a:off x="567882" y="1860605"/>
          <a:ext cx="4033930" cy="2749590"/>
        </p:xfrm>
        <a:graphic>
          <a:graphicData uri="http://schemas.openxmlformats.org/drawingml/2006/table">
            <a:tbl>
              <a:tblPr firstRow="1" bandRow="1">
                <a:tableStyleId>{2D5ABB26-0587-4C30-8999-92F81FD0307C}</a:tableStyleId>
              </a:tblPr>
              <a:tblGrid>
                <a:gridCol w="751663">
                  <a:extLst>
                    <a:ext uri="{9D8B030D-6E8A-4147-A177-3AD203B41FA5}">
                      <a16:colId xmlns:a16="http://schemas.microsoft.com/office/drawing/2014/main" val="1394653570"/>
                    </a:ext>
                  </a:extLst>
                </a:gridCol>
                <a:gridCol w="1200053">
                  <a:extLst>
                    <a:ext uri="{9D8B030D-6E8A-4147-A177-3AD203B41FA5}">
                      <a16:colId xmlns:a16="http://schemas.microsoft.com/office/drawing/2014/main" val="2015362514"/>
                    </a:ext>
                  </a:extLst>
                </a:gridCol>
                <a:gridCol w="1041107">
                  <a:extLst>
                    <a:ext uri="{9D8B030D-6E8A-4147-A177-3AD203B41FA5}">
                      <a16:colId xmlns:a16="http://schemas.microsoft.com/office/drawing/2014/main" val="2439060713"/>
                    </a:ext>
                  </a:extLst>
                </a:gridCol>
                <a:gridCol w="1041107">
                  <a:extLst>
                    <a:ext uri="{9D8B030D-6E8A-4147-A177-3AD203B41FA5}">
                      <a16:colId xmlns:a16="http://schemas.microsoft.com/office/drawing/2014/main" val="1941187402"/>
                    </a:ext>
                  </a:extLst>
                </a:gridCol>
              </a:tblGrid>
              <a:tr h="367038">
                <a:tc>
                  <a:txBody>
                    <a:bodyPr/>
                    <a:lstStyle/>
                    <a:p>
                      <a:r>
                        <a:rPr kumimoji="1" lang="ja-JP" altLang="en-US" dirty="0"/>
                        <a:t>課題番号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計画時間</a:t>
                      </a:r>
                      <a:r>
                        <a:rPr kumimoji="1" lang="en-US" altLang="ja-JP" dirty="0"/>
                        <a:t>(h)</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実績時間</a:t>
                      </a:r>
                      <a:r>
                        <a:rPr kumimoji="1" lang="en-US" altLang="ja-JP" dirty="0"/>
                        <a:t>(h)</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時間見積もり誤差</a:t>
                      </a:r>
                      <a:r>
                        <a:rPr kumimoji="1" lang="en-US" altLang="ja-JP" dirty="0"/>
                        <a:t>(%)</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3410626"/>
                  </a:ext>
                </a:extLst>
              </a:tr>
              <a:tr h="367038">
                <a:tc>
                  <a:txBody>
                    <a:bodyPr/>
                    <a:lstStyle/>
                    <a:p>
                      <a:r>
                        <a:rPr kumimoji="1" lang="en-US" altLang="ja-JP" dirty="0"/>
                        <a:t>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10.87</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r>
                        <a:rPr kumimoji="1" lang="en-US" altLang="ja-JP" dirty="0"/>
                        <a:t>6.65</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-38.82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3977655685"/>
                  </a:ext>
                </a:extLst>
              </a:tr>
              <a:tr h="367038">
                <a:tc>
                  <a:txBody>
                    <a:bodyPr/>
                    <a:lstStyle/>
                    <a:p>
                      <a:r>
                        <a:rPr kumimoji="1" lang="en-US" altLang="ja-JP" dirty="0"/>
                        <a:t>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6.1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6.68</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+9.51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5569576"/>
                  </a:ext>
                </a:extLst>
              </a:tr>
              <a:tr h="367038">
                <a:tc>
                  <a:txBody>
                    <a:bodyPr/>
                    <a:lstStyle/>
                    <a:p>
                      <a:r>
                        <a:rPr kumimoji="1" lang="en-US" altLang="ja-JP" dirty="0"/>
                        <a:t>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7.42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9.62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+29.65</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2951007"/>
                  </a:ext>
                </a:extLst>
              </a:tr>
              <a:tr h="367038">
                <a:tc>
                  <a:txBody>
                    <a:bodyPr/>
                    <a:lstStyle/>
                    <a:p>
                      <a:r>
                        <a:rPr kumimoji="1" lang="en-US" altLang="ja-JP" dirty="0"/>
                        <a:t>4</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5.57</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4.77</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-14.36</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236550"/>
                  </a:ext>
                </a:extLst>
              </a:tr>
              <a:tr h="367038">
                <a:tc>
                  <a:txBody>
                    <a:bodyPr/>
                    <a:lstStyle/>
                    <a:p>
                      <a:r>
                        <a:rPr kumimoji="1" lang="ja-JP" altLang="en-US" dirty="0"/>
                        <a:t>合計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29.96</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27.72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-7.48</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0960020"/>
                  </a:ext>
                </a:extLst>
              </a:tr>
            </a:tbl>
          </a:graphicData>
        </a:graphic>
      </p:graphicFrame>
      <p:sp>
        <p:nvSpPr>
          <p:cNvPr id="9" name="テキスト ボックス 8">
            <a:extLst>
              <a:ext uri="{FF2B5EF4-FFF2-40B4-BE49-F238E27FC236}">
                <a16:creationId xmlns:a16="http://schemas.microsoft.com/office/drawing/2014/main" id="{E4EA95B9-C23C-54CA-176B-ADAD220894CF}"/>
              </a:ext>
            </a:extLst>
          </p:cNvPr>
          <p:cNvSpPr txBox="1"/>
          <p:nvPr/>
        </p:nvSpPr>
        <p:spPr>
          <a:xfrm>
            <a:off x="450024" y="4610195"/>
            <a:ext cx="7915950" cy="1815882"/>
          </a:xfrm>
          <a:prstGeom prst="rect">
            <a:avLst/>
          </a:prstGeom>
          <a:noFill/>
        </p:spPr>
        <p:txBody>
          <a:bodyPr wrap="none" rtlCol="0">
            <a:spAutoFit/>
          </a:bodyPr>
          <a:lstStyle/>
          <a:p>
            <a:pPr algn="l"/>
            <a:r>
              <a:rPr kumimoji="1" lang="ja-JP" altLang="en-US" sz="2800" dirty="0">
                <a:latin typeface="UD デジタル 教科書体 NK-R" panose="02020400000000000000" pitchFamily="18" charset="-128"/>
                <a:ea typeface="UD デジタル 教科書体 NK-R" panose="02020400000000000000" pitchFamily="18" charset="-128"/>
              </a:rPr>
              <a:t>平均</a:t>
            </a:r>
            <a:r>
              <a:rPr kumimoji="1" lang="en-US" altLang="ja-JP"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(-38.82+9.51+29.65-14.36)/4=-3.51</a:t>
            </a:r>
            <a:endParaRPr kumimoji="1" lang="en-US" altLang="ja-JP" sz="2800" dirty="0">
              <a:latin typeface="UD デジタル 教科書体 NK-R" panose="02020400000000000000" pitchFamily="18" charset="-128"/>
              <a:ea typeface="UD デジタル 教科書体 NK-R" panose="02020400000000000000" pitchFamily="18" charset="-128"/>
            </a:endParaRPr>
          </a:p>
          <a:p>
            <a:pPr algn="l"/>
            <a:r>
              <a:rPr kumimoji="1" lang="ja-JP" altLang="en-US" sz="2800" dirty="0">
                <a:latin typeface="UD デジタル 教科書体 NK-R" panose="02020400000000000000" pitchFamily="18" charset="-128"/>
                <a:ea typeface="UD デジタル 教科書体 NK-R" panose="02020400000000000000" pitchFamily="18" charset="-128"/>
              </a:rPr>
              <a:t>最大値：</a:t>
            </a:r>
            <a:r>
              <a:rPr kumimoji="1" lang="en-US" altLang="ja-JP" sz="2800" dirty="0">
                <a:latin typeface="UD デジタル 教科書体 NK-R" panose="02020400000000000000" pitchFamily="18" charset="-128"/>
                <a:ea typeface="UD デジタル 教科書体 NK-R" panose="02020400000000000000" pitchFamily="18" charset="-128"/>
              </a:rPr>
              <a:t>+29.65</a:t>
            </a:r>
          </a:p>
          <a:p>
            <a:pPr algn="l"/>
            <a:r>
              <a:rPr kumimoji="1" lang="ja-JP" altLang="en-US" sz="2800" dirty="0">
                <a:latin typeface="UD デジタル 教科書体 NK-R" panose="02020400000000000000" pitchFamily="18" charset="-128"/>
                <a:ea typeface="UD デジタル 教科書体 NK-R" panose="02020400000000000000" pitchFamily="18" charset="-128"/>
              </a:rPr>
              <a:t>最小値：</a:t>
            </a:r>
            <a:r>
              <a:rPr kumimoji="1" lang="en-US" altLang="ja-JP" sz="2800" dirty="0">
                <a:latin typeface="UD デジタル 教科書体 NK-R" panose="02020400000000000000" pitchFamily="18" charset="-128"/>
                <a:ea typeface="UD デジタル 教科書体 NK-R" panose="02020400000000000000" pitchFamily="18" charset="-128"/>
              </a:rPr>
              <a:t>-38.82</a:t>
            </a:r>
          </a:p>
          <a:p>
            <a:pPr algn="l"/>
            <a:r>
              <a:rPr kumimoji="1" lang="ja-JP" altLang="en-US" sz="2800" dirty="0">
                <a:latin typeface="UD デジタル 教科書体 NK-R" panose="02020400000000000000" pitchFamily="18" charset="-128"/>
                <a:ea typeface="UD デジタル 教科書体 NK-R" panose="02020400000000000000" pitchFamily="18" charset="-128"/>
              </a:rPr>
              <a:t>累積：</a:t>
            </a:r>
            <a:r>
              <a:rPr kumimoji="1" lang="en-US" altLang="ja-JP" sz="2800" dirty="0">
                <a:latin typeface="UD デジタル 教科書体 NK-R" panose="02020400000000000000" pitchFamily="18" charset="-128"/>
                <a:ea typeface="UD デジタル 教科書体 NK-R" panose="02020400000000000000" pitchFamily="18" charset="-128"/>
              </a:rPr>
              <a:t>-7.48</a:t>
            </a:r>
            <a:endParaRPr kumimoji="1" lang="ja-JP" altLang="en-US" sz="2800" dirty="0">
              <a:latin typeface="UD デジタル 教科書体 NK-R" panose="02020400000000000000" pitchFamily="18" charset="-128"/>
              <a:ea typeface="UD デジタル 教科書体 NK-R" panose="02020400000000000000" pitchFamily="18" charset="-128"/>
            </a:endParaRPr>
          </a:p>
        </p:txBody>
      </p:sp>
      <p:sp>
        <p:nvSpPr>
          <p:cNvPr id="10" name="テキスト ボックス 9">
            <a:extLst>
              <a:ext uri="{FF2B5EF4-FFF2-40B4-BE49-F238E27FC236}">
                <a16:creationId xmlns:a16="http://schemas.microsoft.com/office/drawing/2014/main" id="{9365E445-D9B9-5D93-E321-9D6E62A966A4}"/>
              </a:ext>
            </a:extLst>
          </p:cNvPr>
          <p:cNvSpPr txBox="1"/>
          <p:nvPr/>
        </p:nvSpPr>
        <p:spPr>
          <a:xfrm>
            <a:off x="4875191" y="1860605"/>
            <a:ext cx="4030270" cy="523220"/>
          </a:xfrm>
          <a:prstGeom prst="rect">
            <a:avLst/>
          </a:prstGeom>
          <a:noFill/>
        </p:spPr>
        <p:txBody>
          <a:bodyPr wrap="none" rtlCol="0">
            <a:spAutoFit/>
          </a:bodyPr>
          <a:lstStyle/>
          <a:p>
            <a:pPr algn="l"/>
            <a:r>
              <a:rPr kumimoji="1" lang="ja-JP" altLang="en-US" sz="2800" dirty="0">
                <a:latin typeface="UD デジタル 教科書体 NK-R" panose="02020400000000000000" pitchFamily="18" charset="-128"/>
                <a:ea typeface="UD デジタル 教科書体 NK-R" panose="02020400000000000000" pitchFamily="18" charset="-128"/>
              </a:rPr>
              <a:t>誤差</a:t>
            </a:r>
            <a:r>
              <a:rPr kumimoji="1" lang="en-US" altLang="ja-JP" sz="2800" dirty="0">
                <a:latin typeface="UD デジタル 教科書体 NK-R" panose="02020400000000000000" pitchFamily="18" charset="-128"/>
                <a:ea typeface="UD デジタル 教科書体 NK-R" panose="02020400000000000000" pitchFamily="18" charset="-128"/>
              </a:rPr>
              <a:t>=(</a:t>
            </a:r>
            <a:r>
              <a:rPr kumimoji="1" lang="ja-JP" altLang="en-US" sz="2800" dirty="0">
                <a:latin typeface="UD デジタル 教科書体 NK-R" panose="02020400000000000000" pitchFamily="18" charset="-128"/>
                <a:ea typeface="UD デジタル 教科書体 NK-R" panose="02020400000000000000" pitchFamily="18" charset="-128"/>
              </a:rPr>
              <a:t>実績</a:t>
            </a:r>
            <a:r>
              <a:rPr kumimoji="1" lang="en-US" altLang="ja-JP" sz="2800" dirty="0">
                <a:latin typeface="UD デジタル 教科書体 NK-R" panose="02020400000000000000" pitchFamily="18" charset="-128"/>
                <a:ea typeface="UD デジタル 教科書体 NK-R" panose="02020400000000000000" pitchFamily="18" charset="-128"/>
              </a:rPr>
              <a:t>-</a:t>
            </a:r>
            <a:r>
              <a:rPr kumimoji="1" lang="ja-JP" altLang="en-US" sz="2800" dirty="0">
                <a:latin typeface="UD デジタル 教科書体 NK-R" panose="02020400000000000000" pitchFamily="18" charset="-128"/>
                <a:ea typeface="UD デジタル 教科書体 NK-R" panose="02020400000000000000" pitchFamily="18" charset="-128"/>
              </a:rPr>
              <a:t>計画</a:t>
            </a:r>
            <a:r>
              <a:rPr kumimoji="1" lang="en-US" altLang="ja-JP" sz="2800" dirty="0">
                <a:latin typeface="UD デジタル 教科書体 NK-R" panose="02020400000000000000" pitchFamily="18" charset="-128"/>
                <a:ea typeface="UD デジタル 教科書体 NK-R" panose="02020400000000000000" pitchFamily="18" charset="-128"/>
              </a:rPr>
              <a:t>)/</a:t>
            </a:r>
            <a:r>
              <a:rPr kumimoji="1" lang="ja-JP" altLang="en-US" sz="2800" dirty="0">
                <a:latin typeface="UD デジタル 教科書体 NK-R" panose="02020400000000000000" pitchFamily="18" charset="-128"/>
                <a:ea typeface="UD デジタル 教科書体 NK-R" panose="02020400000000000000" pitchFamily="18" charset="-128"/>
              </a:rPr>
              <a:t>計画</a:t>
            </a:r>
          </a:p>
        </p:txBody>
      </p:sp>
    </p:spTree>
    <p:extLst>
      <p:ext uri="{BB962C8B-B14F-4D97-AF65-F5344CB8AC3E}">
        <p14:creationId xmlns:p14="http://schemas.microsoft.com/office/powerpoint/2010/main" val="2354071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C0F4A4-F09E-D9AB-6C1F-345D350FA5CB}"/>
              </a:ext>
            </a:extLst>
          </p:cNvPr>
          <p:cNvSpPr>
            <a:spLocks noGrp="1"/>
          </p:cNvSpPr>
          <p:nvPr>
            <p:ph type="title"/>
          </p:nvPr>
        </p:nvSpPr>
        <p:spPr>
          <a:xfrm>
            <a:off x="411479" y="286604"/>
            <a:ext cx="8996925" cy="1450757"/>
          </a:xfrm>
        </p:spPr>
        <p:txBody>
          <a:bodyPr/>
          <a:lstStyle/>
          <a:p>
            <a:r>
              <a:rPr lang="en-US" altLang="ja-JP" dirty="0"/>
              <a:t>2.2,2.3 </a:t>
            </a:r>
            <a:r>
              <a:rPr lang="ja-JP" altLang="en-US" dirty="0"/>
              <a:t>時間見積もり誤差グラフ</a:t>
            </a:r>
            <a:endParaRPr kumimoji="1" lang="ja-JP" altLang="en-US" dirty="0"/>
          </a:p>
        </p:txBody>
      </p:sp>
      <p:sp>
        <p:nvSpPr>
          <p:cNvPr id="4" name="日付プレースホルダー 3">
            <a:extLst>
              <a:ext uri="{FF2B5EF4-FFF2-40B4-BE49-F238E27FC236}">
                <a16:creationId xmlns:a16="http://schemas.microsoft.com/office/drawing/2014/main" id="{D11908EA-14BC-E9BD-7980-DCE70D6E2A39}"/>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26149944-1C6E-4FE4-3427-1B90AE1B451B}"/>
              </a:ext>
            </a:extLst>
          </p:cNvPr>
          <p:cNvSpPr>
            <a:spLocks noGrp="1"/>
          </p:cNvSpPr>
          <p:nvPr>
            <p:ph type="sldNum" sz="quarter" idx="12"/>
          </p:nvPr>
        </p:nvSpPr>
        <p:spPr/>
        <p:txBody>
          <a:bodyPr/>
          <a:lstStyle/>
          <a:p>
            <a:fld id="{19A2C8B9-04F9-4575-A401-B86E4A91B12C}" type="slidenum">
              <a:rPr kumimoji="1" lang="ja-JP" altLang="en-US" smtClean="0"/>
              <a:pPr/>
              <a:t>10</a:t>
            </a:fld>
            <a:endParaRPr kumimoji="1" lang="ja-JP" altLang="en-US"/>
          </a:p>
        </p:txBody>
      </p:sp>
      <p:pic>
        <p:nvPicPr>
          <p:cNvPr id="11" name="図 10">
            <a:extLst>
              <a:ext uri="{FF2B5EF4-FFF2-40B4-BE49-F238E27FC236}">
                <a16:creationId xmlns:a16="http://schemas.microsoft.com/office/drawing/2014/main" id="{594B7E91-9552-C080-EB3D-E02D00A39E3C}"/>
              </a:ext>
            </a:extLst>
          </p:cNvPr>
          <p:cNvPicPr>
            <a:picLocks noChangeAspect="1"/>
          </p:cNvPicPr>
          <p:nvPr/>
        </p:nvPicPr>
        <p:blipFill>
          <a:blip r:embed="rId2"/>
          <a:stretch>
            <a:fillRect/>
          </a:stretch>
        </p:blipFill>
        <p:spPr>
          <a:xfrm>
            <a:off x="1321869" y="1737361"/>
            <a:ext cx="6500262" cy="3907073"/>
          </a:xfrm>
          <a:prstGeom prst="rect">
            <a:avLst/>
          </a:prstGeom>
        </p:spPr>
      </p:pic>
      <p:sp>
        <p:nvSpPr>
          <p:cNvPr id="12" name="テキスト ボックス 11">
            <a:extLst>
              <a:ext uri="{FF2B5EF4-FFF2-40B4-BE49-F238E27FC236}">
                <a16:creationId xmlns:a16="http://schemas.microsoft.com/office/drawing/2014/main" id="{7E2688EC-D1D0-003D-E7CA-A2966B70CD3C}"/>
              </a:ext>
            </a:extLst>
          </p:cNvPr>
          <p:cNvSpPr txBox="1"/>
          <p:nvPr/>
        </p:nvSpPr>
        <p:spPr>
          <a:xfrm>
            <a:off x="226748" y="5399298"/>
            <a:ext cx="8778889" cy="954107"/>
          </a:xfrm>
          <a:prstGeom prst="rect">
            <a:avLst/>
          </a:prstGeom>
          <a:noFill/>
        </p:spPr>
        <p:txBody>
          <a:bodyPr wrap="square" rtlCol="0">
            <a:spAutoFit/>
          </a:bodyPr>
          <a:lstStyle/>
          <a:p>
            <a:pPr algn="l"/>
            <a:r>
              <a:rPr kumimoji="1" lang="ja-JP" altLang="en-US" sz="2800" dirty="0">
                <a:latin typeface="UD デジタル 教科書体 NK-R" panose="02020400000000000000" pitchFamily="18" charset="-128"/>
                <a:ea typeface="UD デジタル 教科書体 NK-R" panose="02020400000000000000" pitchFamily="18" charset="-128"/>
              </a:rPr>
              <a:t>課題</a:t>
            </a:r>
            <a:r>
              <a:rPr kumimoji="1" lang="en-US" altLang="ja-JP" sz="2800" dirty="0">
                <a:latin typeface="UD デジタル 教科書体 NK-R" panose="02020400000000000000" pitchFamily="18" charset="-128"/>
                <a:ea typeface="UD デジタル 教科書体 NK-R" panose="02020400000000000000" pitchFamily="18" charset="-128"/>
              </a:rPr>
              <a:t>3</a:t>
            </a:r>
            <a:r>
              <a:rPr kumimoji="1" lang="ja-JP" altLang="en-US" sz="2800" dirty="0">
                <a:latin typeface="UD デジタル 教科書体 NK-R" panose="02020400000000000000" pitchFamily="18" charset="-128"/>
                <a:ea typeface="UD デジタル 教科書体 NK-R" panose="02020400000000000000" pitchFamily="18" charset="-128"/>
              </a:rPr>
              <a:t>はベースコードを修正する部分や欠陥除去に苦戦し、時間がかかった。</a:t>
            </a:r>
            <a:r>
              <a:rPr kumimoji="1" lang="en-US" altLang="ja-JP" sz="2800" dirty="0">
                <a:latin typeface="UD デジタル 教科書体 NK-R" panose="02020400000000000000" pitchFamily="18" charset="-128"/>
                <a:ea typeface="UD デジタル 教科書体 NK-R" panose="02020400000000000000" pitchFamily="18" charset="-128"/>
              </a:rPr>
              <a:t>design</a:t>
            </a:r>
            <a:r>
              <a:rPr kumimoji="1" lang="ja-JP" altLang="en-US" sz="2800" dirty="0">
                <a:latin typeface="UD デジタル 教科書体 NK-R" panose="02020400000000000000" pitchFamily="18" charset="-128"/>
                <a:ea typeface="UD デジタル 教科書体 NK-R" panose="02020400000000000000" pitchFamily="18" charset="-128"/>
              </a:rPr>
              <a:t>での欠陥埋め込みも多かった</a:t>
            </a:r>
          </a:p>
        </p:txBody>
      </p:sp>
    </p:spTree>
    <p:extLst>
      <p:ext uri="{BB962C8B-B14F-4D97-AF65-F5344CB8AC3E}">
        <p14:creationId xmlns:p14="http://schemas.microsoft.com/office/powerpoint/2010/main" val="1789979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AFC452-6373-A276-06D0-E2B7AA17E5FA}"/>
              </a:ext>
            </a:extLst>
          </p:cNvPr>
          <p:cNvSpPr>
            <a:spLocks noGrp="1"/>
          </p:cNvSpPr>
          <p:nvPr>
            <p:ph type="title"/>
          </p:nvPr>
        </p:nvSpPr>
        <p:spPr>
          <a:xfrm>
            <a:off x="502920" y="322698"/>
            <a:ext cx="8138160" cy="1450757"/>
          </a:xfrm>
        </p:spPr>
        <p:txBody>
          <a:bodyPr>
            <a:normAutofit/>
          </a:bodyPr>
          <a:lstStyle/>
          <a:p>
            <a:r>
              <a:rPr lang="ja-JP" altLang="en-US" sz="4400" dirty="0"/>
              <a:t>時間見積もりの誤差の原因と改善</a:t>
            </a:r>
            <a:endParaRPr kumimoji="1" lang="ja-JP" altLang="en-US" sz="4400" dirty="0"/>
          </a:p>
        </p:txBody>
      </p:sp>
      <p:sp>
        <p:nvSpPr>
          <p:cNvPr id="3" name="コンテンツ プレースホルダー 2">
            <a:extLst>
              <a:ext uri="{FF2B5EF4-FFF2-40B4-BE49-F238E27FC236}">
                <a16:creationId xmlns:a16="http://schemas.microsoft.com/office/drawing/2014/main" id="{8F330B04-734B-156F-A11A-67C91BD24DFB}"/>
              </a:ext>
            </a:extLst>
          </p:cNvPr>
          <p:cNvSpPr>
            <a:spLocks noGrp="1"/>
          </p:cNvSpPr>
          <p:nvPr>
            <p:ph idx="1"/>
          </p:nvPr>
        </p:nvSpPr>
        <p:spPr>
          <a:xfrm>
            <a:off x="822959" y="1845734"/>
            <a:ext cx="7543801" cy="4614052"/>
          </a:xfrm>
        </p:spPr>
        <p:txBody>
          <a:bodyPr>
            <a:normAutofit lnSpcReduction="10000"/>
          </a:bodyPr>
          <a:lstStyle/>
          <a:p>
            <a:pPr marL="0" indent="0">
              <a:buNone/>
            </a:pPr>
            <a:r>
              <a:rPr kumimoji="1" lang="ja-JP" altLang="en-US" dirty="0"/>
              <a:t>原因：</a:t>
            </a:r>
            <a:endParaRPr kumimoji="1" lang="en-US" altLang="ja-JP" dirty="0"/>
          </a:p>
          <a:p>
            <a:r>
              <a:rPr kumimoji="1" lang="en-US" altLang="ja-JP" dirty="0"/>
              <a:t>3</a:t>
            </a:r>
            <a:r>
              <a:rPr kumimoji="1" lang="ja-JP" altLang="en-US" dirty="0"/>
              <a:t>ではベースコードを修正し活用することに苦戦し、さらに、</a:t>
            </a:r>
            <a:r>
              <a:rPr kumimoji="1" lang="en-US" altLang="ja-JP" dirty="0"/>
              <a:t>design</a:t>
            </a:r>
            <a:r>
              <a:rPr kumimoji="1" lang="ja-JP" altLang="en-US" dirty="0"/>
              <a:t>で単体テストに埋め込んだ</a:t>
            </a:r>
            <a:r>
              <a:rPr lang="en-US" altLang="ja-JP" dirty="0"/>
              <a:t>s</a:t>
            </a:r>
            <a:r>
              <a:rPr kumimoji="1" lang="en-US" altLang="ja-JP" dirty="0"/>
              <a:t>yntax</a:t>
            </a:r>
            <a:r>
              <a:rPr kumimoji="1" lang="ja-JP" altLang="en-US" dirty="0"/>
              <a:t>欠陥の除去に</a:t>
            </a:r>
            <a:r>
              <a:rPr kumimoji="1" lang="en-US" altLang="ja-JP" dirty="0"/>
              <a:t>52</a:t>
            </a:r>
            <a:r>
              <a:rPr kumimoji="1" lang="ja-JP" altLang="en-US" dirty="0"/>
              <a:t>分かかった。</a:t>
            </a:r>
            <a:endParaRPr kumimoji="1" lang="en-US" altLang="ja-JP" dirty="0"/>
          </a:p>
          <a:p>
            <a:r>
              <a:rPr lang="ja-JP" altLang="en-US" dirty="0"/>
              <a:t>規模見積もりが不正確だった</a:t>
            </a:r>
            <a:endParaRPr lang="en-US" altLang="ja-JP" dirty="0"/>
          </a:p>
          <a:p>
            <a:pPr marL="0" indent="0">
              <a:buNone/>
            </a:pPr>
            <a:r>
              <a:rPr kumimoji="1" lang="ja-JP" altLang="en-US" dirty="0"/>
              <a:t>改善：</a:t>
            </a:r>
            <a:endParaRPr kumimoji="1" lang="en-US" altLang="ja-JP" dirty="0"/>
          </a:p>
          <a:p>
            <a:r>
              <a:rPr lang="ja-JP" altLang="en-US" dirty="0"/>
              <a:t>修正</a:t>
            </a:r>
            <a:r>
              <a:rPr kumimoji="1" lang="ja-JP" altLang="en-US" dirty="0"/>
              <a:t>部分に関しては、ベースコードも見直しその修正で利用可能であるかを慎重に判断する</a:t>
            </a:r>
            <a:endParaRPr kumimoji="1" lang="en-US" altLang="ja-JP" dirty="0"/>
          </a:p>
          <a:p>
            <a:r>
              <a:rPr kumimoji="1" lang="ja-JP" altLang="en-US" dirty="0"/>
              <a:t>新規部品だけでなくベースコード追加部分に関してもプロキシの規模範囲を活用する</a:t>
            </a:r>
          </a:p>
        </p:txBody>
      </p:sp>
      <p:sp>
        <p:nvSpPr>
          <p:cNvPr id="4" name="日付プレースホルダー 3">
            <a:extLst>
              <a:ext uri="{FF2B5EF4-FFF2-40B4-BE49-F238E27FC236}">
                <a16:creationId xmlns:a16="http://schemas.microsoft.com/office/drawing/2014/main" id="{6B34B3C9-E4A5-4D76-1371-2BF4BAE69C0A}"/>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7342DAA7-8136-6AF6-DF6D-2FCC2C0B3519}"/>
              </a:ext>
            </a:extLst>
          </p:cNvPr>
          <p:cNvSpPr>
            <a:spLocks noGrp="1"/>
          </p:cNvSpPr>
          <p:nvPr>
            <p:ph type="sldNum" sz="quarter" idx="12"/>
          </p:nvPr>
        </p:nvSpPr>
        <p:spPr/>
        <p:txBody>
          <a:bodyPr/>
          <a:lstStyle/>
          <a:p>
            <a:fld id="{19A2C8B9-04F9-4575-A401-B86E4A91B12C}" type="slidenum">
              <a:rPr kumimoji="1" lang="ja-JP" altLang="en-US" smtClean="0"/>
              <a:pPr/>
              <a:t>11</a:t>
            </a:fld>
            <a:endParaRPr kumimoji="1" lang="ja-JP" altLang="en-US"/>
          </a:p>
        </p:txBody>
      </p:sp>
    </p:spTree>
    <p:extLst>
      <p:ext uri="{BB962C8B-B14F-4D97-AF65-F5344CB8AC3E}">
        <p14:creationId xmlns:p14="http://schemas.microsoft.com/office/powerpoint/2010/main" val="1412012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7E3C85-E68F-E537-39B1-BA644C9E54F9}"/>
              </a:ext>
            </a:extLst>
          </p:cNvPr>
          <p:cNvSpPr>
            <a:spLocks noGrp="1"/>
          </p:cNvSpPr>
          <p:nvPr>
            <p:ph type="title"/>
          </p:nvPr>
        </p:nvSpPr>
        <p:spPr/>
        <p:txBody>
          <a:bodyPr/>
          <a:lstStyle/>
          <a:p>
            <a:r>
              <a:rPr lang="en-US" altLang="ja-JP" dirty="0"/>
              <a:t>2</a:t>
            </a:r>
            <a:r>
              <a:rPr kumimoji="1" lang="en-US" altLang="ja-JP" dirty="0"/>
              <a:t>.4 </a:t>
            </a:r>
            <a:r>
              <a:rPr kumimoji="1" lang="ja-JP" altLang="en-US" dirty="0"/>
              <a:t>生産性</a:t>
            </a:r>
            <a:r>
              <a:rPr kumimoji="1" lang="en-US" altLang="ja-JP" dirty="0"/>
              <a:t>(LOC/h)</a:t>
            </a:r>
            <a:endParaRPr kumimoji="1" lang="ja-JP" altLang="en-US" dirty="0"/>
          </a:p>
        </p:txBody>
      </p:sp>
      <p:graphicFrame>
        <p:nvGraphicFramePr>
          <p:cNvPr id="6" name="コンテンツ プレースホルダー 5">
            <a:extLst>
              <a:ext uri="{FF2B5EF4-FFF2-40B4-BE49-F238E27FC236}">
                <a16:creationId xmlns:a16="http://schemas.microsoft.com/office/drawing/2014/main" id="{17A6A3DF-A615-E577-58FE-E89468F3149F}"/>
              </a:ext>
            </a:extLst>
          </p:cNvPr>
          <p:cNvGraphicFramePr>
            <a:graphicFrameLocks noGrp="1"/>
          </p:cNvGraphicFramePr>
          <p:nvPr>
            <p:ph idx="1"/>
            <p:extLst>
              <p:ext uri="{D42A27DB-BD31-4B8C-83A1-F6EECF244321}">
                <p14:modId xmlns:p14="http://schemas.microsoft.com/office/powerpoint/2010/main" val="579148911"/>
              </p:ext>
            </p:extLst>
          </p:nvPr>
        </p:nvGraphicFramePr>
        <p:xfrm>
          <a:off x="225976" y="1846262"/>
          <a:ext cx="3749676" cy="2475270"/>
        </p:xfrm>
        <a:graphic>
          <a:graphicData uri="http://schemas.openxmlformats.org/drawingml/2006/table">
            <a:tbl>
              <a:tblPr firstRow="1" bandRow="1">
                <a:tableStyleId>{2D5ABB26-0587-4C30-8999-92F81FD0307C}</a:tableStyleId>
              </a:tblPr>
              <a:tblGrid>
                <a:gridCol w="937419">
                  <a:extLst>
                    <a:ext uri="{9D8B030D-6E8A-4147-A177-3AD203B41FA5}">
                      <a16:colId xmlns:a16="http://schemas.microsoft.com/office/drawing/2014/main" val="1394653570"/>
                    </a:ext>
                  </a:extLst>
                </a:gridCol>
                <a:gridCol w="937419">
                  <a:extLst>
                    <a:ext uri="{9D8B030D-6E8A-4147-A177-3AD203B41FA5}">
                      <a16:colId xmlns:a16="http://schemas.microsoft.com/office/drawing/2014/main" val="3348237936"/>
                    </a:ext>
                  </a:extLst>
                </a:gridCol>
                <a:gridCol w="937419">
                  <a:extLst>
                    <a:ext uri="{9D8B030D-6E8A-4147-A177-3AD203B41FA5}">
                      <a16:colId xmlns:a16="http://schemas.microsoft.com/office/drawing/2014/main" val="2439060713"/>
                    </a:ext>
                  </a:extLst>
                </a:gridCol>
                <a:gridCol w="937419">
                  <a:extLst>
                    <a:ext uri="{9D8B030D-6E8A-4147-A177-3AD203B41FA5}">
                      <a16:colId xmlns:a16="http://schemas.microsoft.com/office/drawing/2014/main" val="339428367"/>
                    </a:ext>
                  </a:extLst>
                </a:gridCol>
              </a:tblGrid>
              <a:tr h="367038">
                <a:tc>
                  <a:txBody>
                    <a:bodyPr/>
                    <a:lstStyle/>
                    <a:p>
                      <a:r>
                        <a:rPr kumimoji="1" lang="ja-JP" altLang="en-US" dirty="0"/>
                        <a:t>課題番号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実績規模</a:t>
                      </a:r>
                      <a:r>
                        <a:rPr kumimoji="1" lang="en-US" altLang="ja-JP" dirty="0"/>
                        <a:t>(LOC)</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実績時間</a:t>
                      </a:r>
                      <a:r>
                        <a:rPr kumimoji="1" lang="en-US" altLang="ja-JP" dirty="0"/>
                        <a:t>(h)</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生産性</a:t>
                      </a:r>
                      <a:r>
                        <a:rPr kumimoji="1" lang="en-US" altLang="ja-JP" dirty="0"/>
                        <a:t>(LOC/h)</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3410626"/>
                  </a:ext>
                </a:extLst>
              </a:tr>
              <a:tr h="367038">
                <a:tc>
                  <a:txBody>
                    <a:bodyPr/>
                    <a:lstStyle/>
                    <a:p>
                      <a:r>
                        <a:rPr kumimoji="1" lang="en-US" altLang="ja-JP" dirty="0"/>
                        <a:t>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97</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6.65</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14.6</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7655685"/>
                  </a:ext>
                </a:extLst>
              </a:tr>
              <a:tr h="367038">
                <a:tc>
                  <a:txBody>
                    <a:bodyPr/>
                    <a:lstStyle/>
                    <a:p>
                      <a:r>
                        <a:rPr kumimoji="1" lang="en-US" altLang="ja-JP" dirty="0"/>
                        <a:t>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111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6.68</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16.6</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5569576"/>
                  </a:ext>
                </a:extLst>
              </a:tr>
              <a:tr h="367038">
                <a:tc>
                  <a:txBody>
                    <a:bodyPr/>
                    <a:lstStyle/>
                    <a:p>
                      <a:r>
                        <a:rPr kumimoji="1" lang="en-US" altLang="ja-JP" dirty="0"/>
                        <a:t>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118</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9.62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12.3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2951007"/>
                  </a:ext>
                </a:extLst>
              </a:tr>
              <a:tr h="367038">
                <a:tc>
                  <a:txBody>
                    <a:bodyPr/>
                    <a:lstStyle/>
                    <a:p>
                      <a:r>
                        <a:rPr kumimoji="1" lang="en-US" altLang="ja-JP" dirty="0"/>
                        <a:t>4</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45</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4.77</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4.44</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236550"/>
                  </a:ext>
                </a:extLst>
              </a:tr>
              <a:tr h="367038">
                <a:tc>
                  <a:txBody>
                    <a:bodyPr/>
                    <a:lstStyle/>
                    <a:p>
                      <a:r>
                        <a:rPr kumimoji="1" lang="ja-JP" altLang="en-US" dirty="0"/>
                        <a:t>合計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371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27.72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13.38</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824617"/>
                  </a:ext>
                </a:extLst>
              </a:tr>
            </a:tbl>
          </a:graphicData>
        </a:graphic>
      </p:graphicFrame>
      <p:sp>
        <p:nvSpPr>
          <p:cNvPr id="4" name="日付プレースホルダー 3">
            <a:extLst>
              <a:ext uri="{FF2B5EF4-FFF2-40B4-BE49-F238E27FC236}">
                <a16:creationId xmlns:a16="http://schemas.microsoft.com/office/drawing/2014/main" id="{9FA04B52-CD9B-3D29-C794-97074018710B}"/>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E07D8FE7-471F-205E-B6AA-31AF950839E9}"/>
              </a:ext>
            </a:extLst>
          </p:cNvPr>
          <p:cNvSpPr>
            <a:spLocks noGrp="1"/>
          </p:cNvSpPr>
          <p:nvPr>
            <p:ph type="sldNum" sz="quarter" idx="12"/>
          </p:nvPr>
        </p:nvSpPr>
        <p:spPr/>
        <p:txBody>
          <a:bodyPr/>
          <a:lstStyle/>
          <a:p>
            <a:fld id="{19A2C8B9-04F9-4575-A401-B86E4A91B12C}" type="slidenum">
              <a:rPr kumimoji="1" lang="ja-JP" altLang="en-US" smtClean="0"/>
              <a:pPr/>
              <a:t>12</a:t>
            </a:fld>
            <a:endParaRPr kumimoji="1" lang="ja-JP" altLang="en-US"/>
          </a:p>
        </p:txBody>
      </p:sp>
      <p:sp>
        <p:nvSpPr>
          <p:cNvPr id="7" name="テキスト ボックス 6">
            <a:extLst>
              <a:ext uri="{FF2B5EF4-FFF2-40B4-BE49-F238E27FC236}">
                <a16:creationId xmlns:a16="http://schemas.microsoft.com/office/drawing/2014/main" id="{83CDC62C-5BA3-99BE-7DAE-22612C321F17}"/>
              </a:ext>
            </a:extLst>
          </p:cNvPr>
          <p:cNvSpPr txBox="1"/>
          <p:nvPr/>
        </p:nvSpPr>
        <p:spPr>
          <a:xfrm>
            <a:off x="225976" y="4430433"/>
            <a:ext cx="2271776" cy="1384995"/>
          </a:xfrm>
          <a:prstGeom prst="rect">
            <a:avLst/>
          </a:prstGeom>
          <a:noFill/>
        </p:spPr>
        <p:txBody>
          <a:bodyPr wrap="none" rtlCol="0">
            <a:spAutoFit/>
          </a:bodyPr>
          <a:lstStyle/>
          <a:p>
            <a:pPr algn="l"/>
            <a:r>
              <a:rPr kumimoji="1" lang="ja-JP" altLang="en-US" sz="2800" dirty="0">
                <a:latin typeface="UD デジタル 教科書体 NK-R" panose="02020400000000000000" pitchFamily="18" charset="-128"/>
                <a:ea typeface="UD デジタル 教科書体 NK-R" panose="02020400000000000000" pitchFamily="18" charset="-128"/>
              </a:rPr>
              <a:t>平均：</a:t>
            </a:r>
            <a:r>
              <a:rPr kumimoji="1" lang="en-US" altLang="ja-JP" sz="2800" dirty="0">
                <a:latin typeface="UD デジタル 教科書体 NK-R" panose="02020400000000000000" pitchFamily="18" charset="-128"/>
                <a:ea typeface="UD デジタル 教科書体 NK-R" panose="02020400000000000000" pitchFamily="18" charset="-128"/>
              </a:rPr>
              <a:t>13.38</a:t>
            </a:r>
            <a:endParaRPr kumimoji="1" lang="en-US" altLang="ja-JP"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endParaRPr>
          </a:p>
          <a:p>
            <a:pPr algn="l"/>
            <a:r>
              <a:rPr kumimoji="1" lang="ja-JP" altLang="en-US"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最大値：</a:t>
            </a:r>
            <a:r>
              <a:rPr kumimoji="1" lang="en-US" altLang="ja-JP"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16.6</a:t>
            </a:r>
          </a:p>
          <a:p>
            <a:pPr algn="l"/>
            <a:r>
              <a:rPr kumimoji="1" lang="ja-JP" altLang="en-US"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最小値：</a:t>
            </a:r>
            <a:r>
              <a:rPr kumimoji="1" lang="en-US" altLang="ja-JP"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4.44</a:t>
            </a:r>
            <a:endParaRPr kumimoji="1" lang="ja-JP" altLang="en-US" sz="2800" dirty="0">
              <a:latin typeface="UD デジタル 教科書体 NK-R" panose="02020400000000000000" pitchFamily="18" charset="-128"/>
              <a:ea typeface="UD デジタル 教科書体 NK-R" panose="02020400000000000000" pitchFamily="18" charset="-128"/>
            </a:endParaRPr>
          </a:p>
        </p:txBody>
      </p:sp>
      <p:sp>
        <p:nvSpPr>
          <p:cNvPr id="10" name="テキスト ボックス 9">
            <a:extLst>
              <a:ext uri="{FF2B5EF4-FFF2-40B4-BE49-F238E27FC236}">
                <a16:creationId xmlns:a16="http://schemas.microsoft.com/office/drawing/2014/main" id="{D5CF7255-85EF-4DE8-40B5-25D991E0E939}"/>
              </a:ext>
            </a:extLst>
          </p:cNvPr>
          <p:cNvSpPr txBox="1"/>
          <p:nvPr/>
        </p:nvSpPr>
        <p:spPr>
          <a:xfrm flipH="1">
            <a:off x="4102873" y="1846262"/>
            <a:ext cx="5949564" cy="954107"/>
          </a:xfrm>
          <a:prstGeom prst="rect">
            <a:avLst/>
          </a:prstGeom>
          <a:noFill/>
        </p:spPr>
        <p:txBody>
          <a:bodyPr wrap="square" rtlCol="0">
            <a:spAutoFit/>
          </a:bodyPr>
          <a:lstStyle/>
          <a:p>
            <a:r>
              <a:rPr kumimoji="1" lang="ja-JP" altLang="en-US" sz="2800" dirty="0">
                <a:latin typeface="UD デジタル 教科書体 NK-R" panose="02020400000000000000" pitchFamily="18" charset="-128"/>
                <a:ea typeface="UD デジタル 教科書体 NK-R" panose="02020400000000000000" pitchFamily="18" charset="-128"/>
              </a:rPr>
              <a:t>生産性</a:t>
            </a:r>
            <a:r>
              <a:rPr kumimoji="1" lang="en-US" altLang="ja-JP" sz="2800" dirty="0">
                <a:latin typeface="UD デジタル 教科書体 NK-R" panose="02020400000000000000" pitchFamily="18" charset="-128"/>
                <a:ea typeface="UD デジタル 教科書体 NK-R" panose="02020400000000000000" pitchFamily="18" charset="-128"/>
              </a:rPr>
              <a:t>=</a:t>
            </a:r>
            <a:r>
              <a:rPr kumimoji="1" lang="ja-JP" altLang="en-US" sz="2800" dirty="0">
                <a:latin typeface="UD デジタル 教科書体 NK-R" panose="02020400000000000000" pitchFamily="18" charset="-128"/>
                <a:ea typeface="UD デジタル 教科書体 NK-R" panose="02020400000000000000" pitchFamily="18" charset="-128"/>
              </a:rPr>
              <a:t>実績規模</a:t>
            </a:r>
            <a:r>
              <a:rPr kumimoji="1" lang="en-US" altLang="ja-JP" sz="2800" dirty="0">
                <a:latin typeface="UD デジタル 教科書体 NK-R" panose="02020400000000000000" pitchFamily="18" charset="-128"/>
                <a:ea typeface="UD デジタル 教科書体 NK-R" panose="02020400000000000000" pitchFamily="18" charset="-128"/>
              </a:rPr>
              <a:t>/</a:t>
            </a:r>
            <a:r>
              <a:rPr kumimoji="1" lang="ja-JP" altLang="en-US" sz="2800" dirty="0">
                <a:latin typeface="UD デジタル 教科書体 NK-R" panose="02020400000000000000" pitchFamily="18" charset="-128"/>
                <a:ea typeface="UD デジタル 教科書体 NK-R" panose="02020400000000000000" pitchFamily="18" charset="-128"/>
              </a:rPr>
              <a:t>実績時間</a:t>
            </a:r>
            <a:endParaRPr kumimoji="1" lang="en-US" altLang="ja-JP" sz="2800" dirty="0">
              <a:latin typeface="UD デジタル 教科書体 NK-R" panose="02020400000000000000" pitchFamily="18" charset="-128"/>
              <a:ea typeface="UD デジタル 教科書体 NK-R" panose="02020400000000000000" pitchFamily="18" charset="-128"/>
            </a:endParaRPr>
          </a:p>
          <a:p>
            <a:pPr algn="l"/>
            <a:endParaRPr kumimoji="1" lang="ja-JP" altLang="en-US" sz="2800" dirty="0">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4193169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7E3C85-E68F-E537-39B1-BA644C9E54F9}"/>
              </a:ext>
            </a:extLst>
          </p:cNvPr>
          <p:cNvSpPr>
            <a:spLocks noGrp="1"/>
          </p:cNvSpPr>
          <p:nvPr>
            <p:ph type="title"/>
          </p:nvPr>
        </p:nvSpPr>
        <p:spPr/>
        <p:txBody>
          <a:bodyPr/>
          <a:lstStyle/>
          <a:p>
            <a:r>
              <a:rPr lang="en-US" altLang="ja-JP" dirty="0"/>
              <a:t>2</a:t>
            </a:r>
            <a:r>
              <a:rPr kumimoji="1" lang="en-US" altLang="ja-JP" dirty="0"/>
              <a:t>.4 </a:t>
            </a:r>
            <a:r>
              <a:rPr kumimoji="1" lang="ja-JP" altLang="en-US" dirty="0"/>
              <a:t>生産性グラフ</a:t>
            </a:r>
          </a:p>
        </p:txBody>
      </p:sp>
      <p:sp>
        <p:nvSpPr>
          <p:cNvPr id="4" name="日付プレースホルダー 3">
            <a:extLst>
              <a:ext uri="{FF2B5EF4-FFF2-40B4-BE49-F238E27FC236}">
                <a16:creationId xmlns:a16="http://schemas.microsoft.com/office/drawing/2014/main" id="{9FA04B52-CD9B-3D29-C794-97074018710B}"/>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E07D8FE7-471F-205E-B6AA-31AF950839E9}"/>
              </a:ext>
            </a:extLst>
          </p:cNvPr>
          <p:cNvSpPr>
            <a:spLocks noGrp="1"/>
          </p:cNvSpPr>
          <p:nvPr>
            <p:ph type="sldNum" sz="quarter" idx="12"/>
          </p:nvPr>
        </p:nvSpPr>
        <p:spPr/>
        <p:txBody>
          <a:bodyPr/>
          <a:lstStyle/>
          <a:p>
            <a:fld id="{19A2C8B9-04F9-4575-A401-B86E4A91B12C}" type="slidenum">
              <a:rPr kumimoji="1" lang="ja-JP" altLang="en-US" smtClean="0"/>
              <a:pPr/>
              <a:t>13</a:t>
            </a:fld>
            <a:endParaRPr kumimoji="1" lang="ja-JP" altLang="en-US"/>
          </a:p>
        </p:txBody>
      </p:sp>
      <p:pic>
        <p:nvPicPr>
          <p:cNvPr id="9" name="図 8">
            <a:extLst>
              <a:ext uri="{FF2B5EF4-FFF2-40B4-BE49-F238E27FC236}">
                <a16:creationId xmlns:a16="http://schemas.microsoft.com/office/drawing/2014/main" id="{1DEB7C18-A2E9-4879-6E3A-C5BB5ED56E13}"/>
              </a:ext>
            </a:extLst>
          </p:cNvPr>
          <p:cNvPicPr>
            <a:picLocks noChangeAspect="1"/>
          </p:cNvPicPr>
          <p:nvPr/>
        </p:nvPicPr>
        <p:blipFill>
          <a:blip r:embed="rId2"/>
          <a:stretch>
            <a:fillRect/>
          </a:stretch>
        </p:blipFill>
        <p:spPr>
          <a:xfrm>
            <a:off x="1052849" y="1807069"/>
            <a:ext cx="7084022" cy="4257950"/>
          </a:xfrm>
          <a:prstGeom prst="rect">
            <a:avLst/>
          </a:prstGeom>
        </p:spPr>
      </p:pic>
    </p:spTree>
    <p:extLst>
      <p:ext uri="{BB962C8B-B14F-4D97-AF65-F5344CB8AC3E}">
        <p14:creationId xmlns:p14="http://schemas.microsoft.com/office/powerpoint/2010/main" val="2584859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31AE95-A6CA-D5F6-ED90-3AB18EF6CB97}"/>
              </a:ext>
            </a:extLst>
          </p:cNvPr>
          <p:cNvSpPr>
            <a:spLocks noGrp="1"/>
          </p:cNvSpPr>
          <p:nvPr>
            <p:ph type="title"/>
          </p:nvPr>
        </p:nvSpPr>
        <p:spPr/>
        <p:txBody>
          <a:bodyPr/>
          <a:lstStyle/>
          <a:p>
            <a:r>
              <a:rPr kumimoji="1" lang="ja-JP" altLang="en-US" dirty="0"/>
              <a:t>生産性に対する考察</a:t>
            </a:r>
          </a:p>
        </p:txBody>
      </p:sp>
      <p:sp>
        <p:nvSpPr>
          <p:cNvPr id="4" name="日付プレースホルダー 3">
            <a:extLst>
              <a:ext uri="{FF2B5EF4-FFF2-40B4-BE49-F238E27FC236}">
                <a16:creationId xmlns:a16="http://schemas.microsoft.com/office/drawing/2014/main" id="{BDA002CA-6D59-CB2E-C7C8-CC13B9ECCF96}"/>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782CB665-82B3-57BF-8971-79D5E6A7B02C}"/>
              </a:ext>
            </a:extLst>
          </p:cNvPr>
          <p:cNvSpPr>
            <a:spLocks noGrp="1"/>
          </p:cNvSpPr>
          <p:nvPr>
            <p:ph type="sldNum" sz="quarter" idx="12"/>
          </p:nvPr>
        </p:nvSpPr>
        <p:spPr/>
        <p:txBody>
          <a:bodyPr/>
          <a:lstStyle/>
          <a:p>
            <a:fld id="{19A2C8B9-04F9-4575-A401-B86E4A91B12C}" type="slidenum">
              <a:rPr kumimoji="1" lang="ja-JP" altLang="en-US" smtClean="0"/>
              <a:pPr/>
              <a:t>14</a:t>
            </a:fld>
            <a:endParaRPr kumimoji="1" lang="ja-JP" altLang="en-US"/>
          </a:p>
        </p:txBody>
      </p:sp>
      <p:pic>
        <p:nvPicPr>
          <p:cNvPr id="6" name="図 5">
            <a:extLst>
              <a:ext uri="{FF2B5EF4-FFF2-40B4-BE49-F238E27FC236}">
                <a16:creationId xmlns:a16="http://schemas.microsoft.com/office/drawing/2014/main" id="{C268CD68-E42E-DC75-A8E3-1E7CE5E158C3}"/>
              </a:ext>
            </a:extLst>
          </p:cNvPr>
          <p:cNvPicPr>
            <a:picLocks noChangeAspect="1"/>
          </p:cNvPicPr>
          <p:nvPr/>
        </p:nvPicPr>
        <p:blipFill>
          <a:blip r:embed="rId2"/>
          <a:srcRect l="6168" r="5063"/>
          <a:stretch>
            <a:fillRect/>
          </a:stretch>
        </p:blipFill>
        <p:spPr>
          <a:xfrm>
            <a:off x="-1" y="1791058"/>
            <a:ext cx="4409111" cy="2985477"/>
          </a:xfrm>
          <a:prstGeom prst="rect">
            <a:avLst/>
          </a:prstGeom>
        </p:spPr>
      </p:pic>
      <p:sp>
        <p:nvSpPr>
          <p:cNvPr id="8" name="コンテンツ プレースホルダー 7">
            <a:extLst>
              <a:ext uri="{FF2B5EF4-FFF2-40B4-BE49-F238E27FC236}">
                <a16:creationId xmlns:a16="http://schemas.microsoft.com/office/drawing/2014/main" id="{284B3FAB-2990-D60D-8343-BF24C0EDEA70}"/>
              </a:ext>
            </a:extLst>
          </p:cNvPr>
          <p:cNvSpPr>
            <a:spLocks noGrp="1"/>
          </p:cNvSpPr>
          <p:nvPr>
            <p:ph idx="1"/>
          </p:nvPr>
        </p:nvSpPr>
        <p:spPr>
          <a:xfrm>
            <a:off x="99083" y="4830232"/>
            <a:ext cx="9129138" cy="4022725"/>
          </a:xfrm>
        </p:spPr>
        <p:txBody>
          <a:bodyPr>
            <a:normAutofit/>
          </a:bodyPr>
          <a:lstStyle/>
          <a:p>
            <a:pPr marL="0" indent="0">
              <a:buNone/>
            </a:pPr>
            <a:r>
              <a:rPr lang="ja-JP" altLang="en-US" sz="2400" dirty="0"/>
              <a:t>課題</a:t>
            </a:r>
            <a:r>
              <a:rPr lang="en-US" altLang="ja-JP" sz="2400" dirty="0"/>
              <a:t>4</a:t>
            </a:r>
            <a:r>
              <a:rPr lang="ja-JP" altLang="en-US" sz="2400" dirty="0"/>
              <a:t>に関して、予防的活動の割合がほかの課題に比べ極端に低くなっており、生産性が低くなっていると考えられる</a:t>
            </a:r>
            <a:endParaRPr lang="en-US" altLang="ja-JP" sz="2400" dirty="0"/>
          </a:p>
          <a:p>
            <a:pPr marL="0" indent="0">
              <a:buNone/>
            </a:pPr>
            <a:r>
              <a:rPr lang="ja-JP" altLang="en-US" sz="2400" dirty="0"/>
              <a:t>また、規模によってかかる時間が変動しにくい要求仕様書の作成などの作業と</a:t>
            </a:r>
            <a:r>
              <a:rPr lang="en-US" altLang="ja-JP" sz="2400" dirty="0"/>
              <a:t>PIP</a:t>
            </a:r>
            <a:r>
              <a:rPr lang="ja-JP" altLang="en-US" sz="2400" dirty="0"/>
              <a:t>の作成に時間がかかり</a:t>
            </a:r>
            <a:r>
              <a:rPr lang="en-US" altLang="ja-JP" sz="2400" dirty="0"/>
              <a:t>code</a:t>
            </a:r>
            <a:r>
              <a:rPr lang="ja-JP" altLang="en-US" sz="2400" dirty="0"/>
              <a:t>以外のフェーズ割合が大きい</a:t>
            </a:r>
            <a:endParaRPr lang="en-US" altLang="ja-JP" sz="2400" dirty="0"/>
          </a:p>
        </p:txBody>
      </p:sp>
      <p:pic>
        <p:nvPicPr>
          <p:cNvPr id="7" name="図 6">
            <a:extLst>
              <a:ext uri="{FF2B5EF4-FFF2-40B4-BE49-F238E27FC236}">
                <a16:creationId xmlns:a16="http://schemas.microsoft.com/office/drawing/2014/main" id="{0BCF5386-09B4-4E16-782F-EE24871EA490}"/>
              </a:ext>
            </a:extLst>
          </p:cNvPr>
          <p:cNvPicPr>
            <a:picLocks noChangeAspect="1"/>
          </p:cNvPicPr>
          <p:nvPr/>
        </p:nvPicPr>
        <p:blipFill>
          <a:blip r:embed="rId3"/>
          <a:srcRect l="4073" r="2651"/>
          <a:stretch>
            <a:fillRect/>
          </a:stretch>
        </p:blipFill>
        <p:spPr>
          <a:xfrm>
            <a:off x="4506891" y="1791059"/>
            <a:ext cx="4637110" cy="2985478"/>
          </a:xfrm>
          <a:prstGeom prst="rect">
            <a:avLst/>
          </a:prstGeom>
        </p:spPr>
      </p:pic>
    </p:spTree>
    <p:extLst>
      <p:ext uri="{BB962C8B-B14F-4D97-AF65-F5344CB8AC3E}">
        <p14:creationId xmlns:p14="http://schemas.microsoft.com/office/powerpoint/2010/main" val="820604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7E3C85-E68F-E537-39B1-BA644C9E54F9}"/>
              </a:ext>
            </a:extLst>
          </p:cNvPr>
          <p:cNvSpPr>
            <a:spLocks noGrp="1"/>
          </p:cNvSpPr>
          <p:nvPr>
            <p:ph type="title"/>
          </p:nvPr>
        </p:nvSpPr>
        <p:spPr/>
        <p:txBody>
          <a:bodyPr/>
          <a:lstStyle/>
          <a:p>
            <a:r>
              <a:rPr kumimoji="1" lang="en-US" altLang="ja-JP" dirty="0"/>
              <a:t>3.1 </a:t>
            </a:r>
            <a:r>
              <a:rPr lang="ja-JP" altLang="en-US" dirty="0"/>
              <a:t>欠陥数</a:t>
            </a:r>
            <a:r>
              <a:rPr kumimoji="1" lang="en-US" altLang="ja-JP" dirty="0"/>
              <a:t>(</a:t>
            </a:r>
            <a:r>
              <a:rPr kumimoji="1" lang="ja-JP" altLang="en-US" dirty="0"/>
              <a:t>個</a:t>
            </a:r>
            <a:r>
              <a:rPr kumimoji="1" lang="en-US" altLang="ja-JP" dirty="0"/>
              <a:t>)</a:t>
            </a:r>
            <a:endParaRPr kumimoji="1" lang="ja-JP" altLang="en-US" dirty="0"/>
          </a:p>
        </p:txBody>
      </p:sp>
      <p:graphicFrame>
        <p:nvGraphicFramePr>
          <p:cNvPr id="6" name="コンテンツ プレースホルダー 5">
            <a:extLst>
              <a:ext uri="{FF2B5EF4-FFF2-40B4-BE49-F238E27FC236}">
                <a16:creationId xmlns:a16="http://schemas.microsoft.com/office/drawing/2014/main" id="{17A6A3DF-A615-E577-58FE-E89468F3149F}"/>
              </a:ext>
            </a:extLst>
          </p:cNvPr>
          <p:cNvGraphicFramePr>
            <a:graphicFrameLocks noGrp="1"/>
          </p:cNvGraphicFramePr>
          <p:nvPr>
            <p:ph idx="1"/>
            <p:extLst>
              <p:ext uri="{D42A27DB-BD31-4B8C-83A1-F6EECF244321}">
                <p14:modId xmlns:p14="http://schemas.microsoft.com/office/powerpoint/2010/main" val="3740720857"/>
              </p:ext>
            </p:extLst>
          </p:nvPr>
        </p:nvGraphicFramePr>
        <p:xfrm>
          <a:off x="822325" y="1846262"/>
          <a:ext cx="2644444" cy="1835190"/>
        </p:xfrm>
        <a:graphic>
          <a:graphicData uri="http://schemas.openxmlformats.org/drawingml/2006/table">
            <a:tbl>
              <a:tblPr firstRow="1" bandRow="1">
                <a:tableStyleId>{2D5ABB26-0587-4C30-8999-92F81FD0307C}</a:tableStyleId>
              </a:tblPr>
              <a:tblGrid>
                <a:gridCol w="1322222">
                  <a:extLst>
                    <a:ext uri="{9D8B030D-6E8A-4147-A177-3AD203B41FA5}">
                      <a16:colId xmlns:a16="http://schemas.microsoft.com/office/drawing/2014/main" val="1394653570"/>
                    </a:ext>
                  </a:extLst>
                </a:gridCol>
                <a:gridCol w="1322222">
                  <a:extLst>
                    <a:ext uri="{9D8B030D-6E8A-4147-A177-3AD203B41FA5}">
                      <a16:colId xmlns:a16="http://schemas.microsoft.com/office/drawing/2014/main" val="2439060713"/>
                    </a:ext>
                  </a:extLst>
                </a:gridCol>
              </a:tblGrid>
              <a:tr h="367038">
                <a:tc>
                  <a:txBody>
                    <a:bodyPr/>
                    <a:lstStyle/>
                    <a:p>
                      <a:r>
                        <a:rPr kumimoji="1" lang="ja-JP" altLang="en-US" dirty="0"/>
                        <a:t>課題番号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欠陥数</a:t>
                      </a:r>
                      <a:r>
                        <a:rPr kumimoji="1" lang="en-US" altLang="ja-JP" dirty="0"/>
                        <a:t>(</a:t>
                      </a:r>
                      <a:r>
                        <a:rPr kumimoji="1" lang="ja-JP" altLang="en-US" dirty="0"/>
                        <a:t>個</a:t>
                      </a:r>
                      <a:r>
                        <a:rPr kumimoji="1" lang="en-US" altLang="ja-JP" dirty="0"/>
                        <a:t>)</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3410626"/>
                  </a:ext>
                </a:extLst>
              </a:tr>
              <a:tr h="367038">
                <a:tc>
                  <a:txBody>
                    <a:bodyPr/>
                    <a:lstStyle/>
                    <a:p>
                      <a:r>
                        <a:rPr kumimoji="1" lang="en-US" altLang="ja-JP" dirty="0"/>
                        <a:t>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25</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7655685"/>
                  </a:ext>
                </a:extLst>
              </a:tr>
              <a:tr h="367038">
                <a:tc>
                  <a:txBody>
                    <a:bodyPr/>
                    <a:lstStyle/>
                    <a:p>
                      <a:r>
                        <a:rPr kumimoji="1" lang="en-US" altLang="ja-JP" dirty="0"/>
                        <a:t>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15</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5569576"/>
                  </a:ext>
                </a:extLst>
              </a:tr>
              <a:tr h="367038">
                <a:tc>
                  <a:txBody>
                    <a:bodyPr/>
                    <a:lstStyle/>
                    <a:p>
                      <a:r>
                        <a:rPr kumimoji="1" lang="en-US" altLang="ja-JP" dirty="0"/>
                        <a:t>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7</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2951007"/>
                  </a:ext>
                </a:extLst>
              </a:tr>
              <a:tr h="367038">
                <a:tc>
                  <a:txBody>
                    <a:bodyPr/>
                    <a:lstStyle/>
                    <a:p>
                      <a:r>
                        <a:rPr kumimoji="1" lang="en-US" altLang="ja-JP" dirty="0"/>
                        <a:t>4</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5</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236550"/>
                  </a:ext>
                </a:extLst>
              </a:tr>
            </a:tbl>
          </a:graphicData>
        </a:graphic>
      </p:graphicFrame>
      <p:sp>
        <p:nvSpPr>
          <p:cNvPr id="4" name="日付プレースホルダー 3">
            <a:extLst>
              <a:ext uri="{FF2B5EF4-FFF2-40B4-BE49-F238E27FC236}">
                <a16:creationId xmlns:a16="http://schemas.microsoft.com/office/drawing/2014/main" id="{9FA04B52-CD9B-3D29-C794-97074018710B}"/>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E07D8FE7-471F-205E-B6AA-31AF950839E9}"/>
              </a:ext>
            </a:extLst>
          </p:cNvPr>
          <p:cNvSpPr>
            <a:spLocks noGrp="1"/>
          </p:cNvSpPr>
          <p:nvPr>
            <p:ph type="sldNum" sz="quarter" idx="12"/>
          </p:nvPr>
        </p:nvSpPr>
        <p:spPr/>
        <p:txBody>
          <a:bodyPr/>
          <a:lstStyle/>
          <a:p>
            <a:fld id="{19A2C8B9-04F9-4575-A401-B86E4A91B12C}" type="slidenum">
              <a:rPr kumimoji="1" lang="ja-JP" altLang="en-US" smtClean="0"/>
              <a:pPr/>
              <a:t>15</a:t>
            </a:fld>
            <a:endParaRPr kumimoji="1" lang="ja-JP" altLang="en-US"/>
          </a:p>
        </p:txBody>
      </p:sp>
      <p:sp>
        <p:nvSpPr>
          <p:cNvPr id="7" name="テキスト ボックス 6">
            <a:extLst>
              <a:ext uri="{FF2B5EF4-FFF2-40B4-BE49-F238E27FC236}">
                <a16:creationId xmlns:a16="http://schemas.microsoft.com/office/drawing/2014/main" id="{83CDC62C-5BA3-99BE-7DAE-22612C321F17}"/>
              </a:ext>
            </a:extLst>
          </p:cNvPr>
          <p:cNvSpPr txBox="1"/>
          <p:nvPr/>
        </p:nvSpPr>
        <p:spPr>
          <a:xfrm>
            <a:off x="822325" y="4944107"/>
            <a:ext cx="5166799" cy="1384995"/>
          </a:xfrm>
          <a:prstGeom prst="rect">
            <a:avLst/>
          </a:prstGeom>
          <a:noFill/>
        </p:spPr>
        <p:txBody>
          <a:bodyPr wrap="none" rtlCol="0">
            <a:spAutoFit/>
          </a:bodyPr>
          <a:lstStyle/>
          <a:p>
            <a:pPr algn="l"/>
            <a:r>
              <a:rPr kumimoji="1" lang="ja-JP" altLang="en-US" sz="2800" dirty="0">
                <a:latin typeface="UD デジタル 教科書体 NK-R" panose="02020400000000000000" pitchFamily="18" charset="-128"/>
                <a:ea typeface="UD デジタル 教科書体 NK-R" panose="02020400000000000000" pitchFamily="18" charset="-128"/>
              </a:rPr>
              <a:t>平均：</a:t>
            </a:r>
            <a:r>
              <a:rPr kumimoji="1" lang="en-US" altLang="ja-JP"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(25+15+7+5)/4=13.0</a:t>
            </a:r>
          </a:p>
          <a:p>
            <a:pPr algn="l"/>
            <a:r>
              <a:rPr kumimoji="1" lang="ja-JP" altLang="en-US"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最大値：</a:t>
            </a:r>
            <a:r>
              <a:rPr kumimoji="1" lang="en-US" altLang="ja-JP"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25</a:t>
            </a:r>
          </a:p>
          <a:p>
            <a:pPr algn="l"/>
            <a:r>
              <a:rPr kumimoji="1" lang="ja-JP" altLang="en-US"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最小値：</a:t>
            </a:r>
            <a:r>
              <a:rPr kumimoji="1" lang="en-US" altLang="ja-JP"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5</a:t>
            </a:r>
            <a:endParaRPr kumimoji="1" lang="ja-JP" altLang="en-US" sz="2800" dirty="0">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2238461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7E3C85-E68F-E537-39B1-BA644C9E54F9}"/>
              </a:ext>
            </a:extLst>
          </p:cNvPr>
          <p:cNvSpPr>
            <a:spLocks noGrp="1"/>
          </p:cNvSpPr>
          <p:nvPr>
            <p:ph type="title"/>
          </p:nvPr>
        </p:nvSpPr>
        <p:spPr/>
        <p:txBody>
          <a:bodyPr/>
          <a:lstStyle/>
          <a:p>
            <a:r>
              <a:rPr kumimoji="1" lang="en-US" altLang="ja-JP" dirty="0"/>
              <a:t>3.1 </a:t>
            </a:r>
            <a:r>
              <a:rPr lang="ja-JP" altLang="en-US" dirty="0"/>
              <a:t>欠陥数グラフ</a:t>
            </a:r>
            <a:endParaRPr kumimoji="1" lang="ja-JP" altLang="en-US" dirty="0"/>
          </a:p>
        </p:txBody>
      </p:sp>
      <p:sp>
        <p:nvSpPr>
          <p:cNvPr id="4" name="日付プレースホルダー 3">
            <a:extLst>
              <a:ext uri="{FF2B5EF4-FFF2-40B4-BE49-F238E27FC236}">
                <a16:creationId xmlns:a16="http://schemas.microsoft.com/office/drawing/2014/main" id="{9FA04B52-CD9B-3D29-C794-97074018710B}"/>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E07D8FE7-471F-205E-B6AA-31AF950839E9}"/>
              </a:ext>
            </a:extLst>
          </p:cNvPr>
          <p:cNvSpPr>
            <a:spLocks noGrp="1"/>
          </p:cNvSpPr>
          <p:nvPr>
            <p:ph type="sldNum" sz="quarter" idx="12"/>
          </p:nvPr>
        </p:nvSpPr>
        <p:spPr/>
        <p:txBody>
          <a:bodyPr/>
          <a:lstStyle/>
          <a:p>
            <a:fld id="{19A2C8B9-04F9-4575-A401-B86E4A91B12C}" type="slidenum">
              <a:rPr kumimoji="1" lang="ja-JP" altLang="en-US" smtClean="0"/>
              <a:pPr/>
              <a:t>16</a:t>
            </a:fld>
            <a:endParaRPr kumimoji="1" lang="ja-JP" altLang="en-US"/>
          </a:p>
        </p:txBody>
      </p:sp>
      <p:pic>
        <p:nvPicPr>
          <p:cNvPr id="9" name="図 8" descr="グラフ, 折れ線グラフ&#10;&#10;AI 生成コンテンツは誤りを含む可能性があります。">
            <a:extLst>
              <a:ext uri="{FF2B5EF4-FFF2-40B4-BE49-F238E27FC236}">
                <a16:creationId xmlns:a16="http://schemas.microsoft.com/office/drawing/2014/main" id="{F5C840C6-8D3D-A0C6-4351-E7960074C5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8219" y="1737361"/>
            <a:ext cx="6387562" cy="3837174"/>
          </a:xfrm>
          <a:prstGeom prst="rect">
            <a:avLst/>
          </a:prstGeom>
        </p:spPr>
      </p:pic>
      <p:sp>
        <p:nvSpPr>
          <p:cNvPr id="8" name="コンテンツ プレースホルダー 7">
            <a:extLst>
              <a:ext uri="{FF2B5EF4-FFF2-40B4-BE49-F238E27FC236}">
                <a16:creationId xmlns:a16="http://schemas.microsoft.com/office/drawing/2014/main" id="{1AD8BA26-5A45-7983-E4A6-AF45CA29AC21}"/>
              </a:ext>
            </a:extLst>
          </p:cNvPr>
          <p:cNvSpPr>
            <a:spLocks noGrp="1"/>
          </p:cNvSpPr>
          <p:nvPr>
            <p:ph idx="1"/>
          </p:nvPr>
        </p:nvSpPr>
        <p:spPr>
          <a:xfrm>
            <a:off x="1" y="5574535"/>
            <a:ext cx="9144000" cy="1450757"/>
          </a:xfrm>
        </p:spPr>
        <p:txBody>
          <a:bodyPr>
            <a:normAutofit/>
          </a:bodyPr>
          <a:lstStyle/>
          <a:p>
            <a:pPr marL="0" indent="0">
              <a:buNone/>
            </a:pPr>
            <a:r>
              <a:rPr lang="ja-JP" altLang="en-US" sz="2400" dirty="0"/>
              <a:t>欠陥数に減少傾向がみられる。「</a:t>
            </a:r>
            <a:r>
              <a:rPr lang="en-US" altLang="ja-JP" sz="2400" dirty="0"/>
              <a:t>public static</a:t>
            </a:r>
            <a:r>
              <a:rPr lang="ja-JP" altLang="en-US" sz="2400" dirty="0"/>
              <a:t>」「メソッド呼び出しでのクラス指定」など</a:t>
            </a:r>
            <a:r>
              <a:rPr lang="en-US" altLang="ja-JP" sz="2400" dirty="0"/>
              <a:t>Java</a:t>
            </a:r>
            <a:r>
              <a:rPr lang="ja-JP" altLang="en-US" sz="2400" dirty="0"/>
              <a:t>の書き方を思い出してきたことが起因している。</a:t>
            </a:r>
          </a:p>
        </p:txBody>
      </p:sp>
    </p:spTree>
    <p:extLst>
      <p:ext uri="{BB962C8B-B14F-4D97-AF65-F5344CB8AC3E}">
        <p14:creationId xmlns:p14="http://schemas.microsoft.com/office/powerpoint/2010/main" val="4056796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936EF4-785A-5F57-55FF-2AAE8D3E4B9F}"/>
              </a:ext>
            </a:extLst>
          </p:cNvPr>
          <p:cNvSpPr>
            <a:spLocks noGrp="1"/>
          </p:cNvSpPr>
          <p:nvPr>
            <p:ph type="title"/>
          </p:nvPr>
        </p:nvSpPr>
        <p:spPr/>
        <p:txBody>
          <a:bodyPr/>
          <a:lstStyle/>
          <a:p>
            <a:r>
              <a:rPr kumimoji="1" lang="en-US" altLang="ja-JP" dirty="0"/>
              <a:t>3.2 </a:t>
            </a:r>
            <a:r>
              <a:rPr kumimoji="1" lang="ja-JP" altLang="en-US" dirty="0"/>
              <a:t>欠陥密度</a:t>
            </a:r>
            <a:r>
              <a:rPr lang="en-US" altLang="ja-JP" dirty="0"/>
              <a:t>(</a:t>
            </a:r>
            <a:r>
              <a:rPr lang="ja-JP" altLang="en-US" dirty="0"/>
              <a:t>個</a:t>
            </a:r>
            <a:r>
              <a:rPr lang="en-US" altLang="ja-JP" dirty="0"/>
              <a:t>/KLOC)</a:t>
            </a:r>
            <a:endParaRPr kumimoji="1" lang="ja-JP" altLang="en-US" dirty="0"/>
          </a:p>
        </p:txBody>
      </p:sp>
      <p:sp>
        <p:nvSpPr>
          <p:cNvPr id="4" name="日付プレースホルダー 3">
            <a:extLst>
              <a:ext uri="{FF2B5EF4-FFF2-40B4-BE49-F238E27FC236}">
                <a16:creationId xmlns:a16="http://schemas.microsoft.com/office/drawing/2014/main" id="{1C1E3E71-084A-1529-211E-0849712DE429}"/>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9DCF0132-A627-D410-931B-644A231DA018}"/>
              </a:ext>
            </a:extLst>
          </p:cNvPr>
          <p:cNvSpPr>
            <a:spLocks noGrp="1"/>
          </p:cNvSpPr>
          <p:nvPr>
            <p:ph type="sldNum" sz="quarter" idx="12"/>
          </p:nvPr>
        </p:nvSpPr>
        <p:spPr/>
        <p:txBody>
          <a:bodyPr/>
          <a:lstStyle/>
          <a:p>
            <a:fld id="{19A2C8B9-04F9-4575-A401-B86E4A91B12C}" type="slidenum">
              <a:rPr kumimoji="1" lang="ja-JP" altLang="en-US" smtClean="0"/>
              <a:pPr/>
              <a:t>17</a:t>
            </a:fld>
            <a:endParaRPr kumimoji="1" lang="ja-JP" altLang="en-US"/>
          </a:p>
        </p:txBody>
      </p:sp>
      <p:graphicFrame>
        <p:nvGraphicFramePr>
          <p:cNvPr id="6" name="コンテンツ プレースホルダー 5">
            <a:extLst>
              <a:ext uri="{FF2B5EF4-FFF2-40B4-BE49-F238E27FC236}">
                <a16:creationId xmlns:a16="http://schemas.microsoft.com/office/drawing/2014/main" id="{BF5F13BD-6BCD-7E4D-8195-5C5305DFFDB5}"/>
              </a:ext>
            </a:extLst>
          </p:cNvPr>
          <p:cNvGraphicFramePr>
            <a:graphicFrameLocks/>
          </p:cNvGraphicFramePr>
          <p:nvPr>
            <p:extLst>
              <p:ext uri="{D42A27DB-BD31-4B8C-83A1-F6EECF244321}">
                <p14:modId xmlns:p14="http://schemas.microsoft.com/office/powerpoint/2010/main" val="1275074444"/>
              </p:ext>
            </p:extLst>
          </p:nvPr>
        </p:nvGraphicFramePr>
        <p:xfrm>
          <a:off x="591737" y="1766759"/>
          <a:ext cx="8202405" cy="2749590"/>
        </p:xfrm>
        <a:graphic>
          <a:graphicData uri="http://schemas.openxmlformats.org/drawingml/2006/table">
            <a:tbl>
              <a:tblPr firstRow="1" bandRow="1">
                <a:tableStyleId>{2D5ABB26-0587-4C30-8999-92F81FD0307C}</a:tableStyleId>
              </a:tblPr>
              <a:tblGrid>
                <a:gridCol w="941632">
                  <a:extLst>
                    <a:ext uri="{9D8B030D-6E8A-4147-A177-3AD203B41FA5}">
                      <a16:colId xmlns:a16="http://schemas.microsoft.com/office/drawing/2014/main" val="1394653570"/>
                    </a:ext>
                  </a:extLst>
                </a:gridCol>
                <a:gridCol w="1605844">
                  <a:extLst>
                    <a:ext uri="{9D8B030D-6E8A-4147-A177-3AD203B41FA5}">
                      <a16:colId xmlns:a16="http://schemas.microsoft.com/office/drawing/2014/main" val="2439060713"/>
                    </a:ext>
                  </a:extLst>
                </a:gridCol>
                <a:gridCol w="1605844">
                  <a:extLst>
                    <a:ext uri="{9D8B030D-6E8A-4147-A177-3AD203B41FA5}">
                      <a16:colId xmlns:a16="http://schemas.microsoft.com/office/drawing/2014/main" val="2939756699"/>
                    </a:ext>
                  </a:extLst>
                </a:gridCol>
                <a:gridCol w="1349695">
                  <a:extLst>
                    <a:ext uri="{9D8B030D-6E8A-4147-A177-3AD203B41FA5}">
                      <a16:colId xmlns:a16="http://schemas.microsoft.com/office/drawing/2014/main" val="3046126270"/>
                    </a:ext>
                  </a:extLst>
                </a:gridCol>
                <a:gridCol w="1349695">
                  <a:extLst>
                    <a:ext uri="{9D8B030D-6E8A-4147-A177-3AD203B41FA5}">
                      <a16:colId xmlns:a16="http://schemas.microsoft.com/office/drawing/2014/main" val="2655243171"/>
                    </a:ext>
                  </a:extLst>
                </a:gridCol>
                <a:gridCol w="1349695">
                  <a:extLst>
                    <a:ext uri="{9D8B030D-6E8A-4147-A177-3AD203B41FA5}">
                      <a16:colId xmlns:a16="http://schemas.microsoft.com/office/drawing/2014/main" val="2610096467"/>
                    </a:ext>
                  </a:extLst>
                </a:gridCol>
              </a:tblGrid>
              <a:tr h="367038">
                <a:tc>
                  <a:txBody>
                    <a:bodyPr/>
                    <a:lstStyle/>
                    <a:p>
                      <a:r>
                        <a:rPr kumimoji="1" lang="ja-JP" altLang="en-US" dirty="0"/>
                        <a:t>課題番号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コンパイル欠陥数</a:t>
                      </a:r>
                      <a:r>
                        <a:rPr kumimoji="1" lang="en-US" altLang="ja-JP" dirty="0"/>
                        <a:t>(</a:t>
                      </a:r>
                      <a:r>
                        <a:rPr kumimoji="1" lang="ja-JP" altLang="en-US" dirty="0"/>
                        <a:t>個</a:t>
                      </a:r>
                      <a:r>
                        <a:rPr kumimoji="1" lang="en-US" altLang="ja-JP" dirty="0"/>
                        <a:t>)</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コンパイル欠陥密度</a:t>
                      </a:r>
                      <a:r>
                        <a:rPr kumimoji="1" lang="en-US" altLang="ja-JP" dirty="0"/>
                        <a:t>(</a:t>
                      </a:r>
                      <a:r>
                        <a:rPr kumimoji="1" lang="ja-JP" altLang="en-US" dirty="0"/>
                        <a:t>個</a:t>
                      </a:r>
                      <a:r>
                        <a:rPr kumimoji="1" lang="en-US" altLang="ja-JP" dirty="0"/>
                        <a:t>/KLOC)</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テスト欠陥数</a:t>
                      </a:r>
                      <a:r>
                        <a:rPr kumimoji="1" lang="en-US" altLang="ja-JP" dirty="0"/>
                        <a:t>(</a:t>
                      </a:r>
                      <a:r>
                        <a:rPr kumimoji="1" lang="ja-JP" altLang="en-US" dirty="0"/>
                        <a:t>個</a:t>
                      </a:r>
                      <a:r>
                        <a:rPr kumimoji="1" lang="en-US" altLang="ja-JP" dirty="0"/>
                        <a:t>)</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テスト欠陥密度</a:t>
                      </a:r>
                      <a:r>
                        <a:rPr kumimoji="1" lang="en-US" altLang="ja-JP" dirty="0"/>
                        <a:t>(</a:t>
                      </a:r>
                      <a:r>
                        <a:rPr kumimoji="1" lang="ja-JP" altLang="en-US" dirty="0"/>
                        <a:t>個</a:t>
                      </a:r>
                      <a:r>
                        <a:rPr kumimoji="1" lang="en-US" altLang="ja-JP" dirty="0"/>
                        <a:t>/KLOC)</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実績規模</a:t>
                      </a:r>
                      <a:r>
                        <a:rPr kumimoji="1" lang="en-US" altLang="ja-JP" dirty="0"/>
                        <a:t>(LOC)</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3410626"/>
                  </a:ext>
                </a:extLst>
              </a:tr>
              <a:tr h="367038">
                <a:tc>
                  <a:txBody>
                    <a:bodyPr/>
                    <a:lstStyle/>
                    <a:p>
                      <a:r>
                        <a:rPr kumimoji="1" lang="en-US" altLang="ja-JP" dirty="0"/>
                        <a:t>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23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237.0</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10.3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97</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7655685"/>
                  </a:ext>
                </a:extLst>
              </a:tr>
              <a:tr h="367038">
                <a:tc>
                  <a:txBody>
                    <a:bodyPr/>
                    <a:lstStyle/>
                    <a:p>
                      <a:r>
                        <a:rPr kumimoji="1" lang="en-US" altLang="ja-JP" dirty="0"/>
                        <a:t>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18.0</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9</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81.1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111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5569576"/>
                  </a:ext>
                </a:extLst>
              </a:tr>
              <a:tr h="367038">
                <a:tc>
                  <a:txBody>
                    <a:bodyPr/>
                    <a:lstStyle/>
                    <a:p>
                      <a:r>
                        <a:rPr kumimoji="1" lang="en-US" altLang="ja-JP" dirty="0"/>
                        <a:t>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0</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0</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25.4</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118</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2951007"/>
                  </a:ext>
                </a:extLst>
              </a:tr>
              <a:tr h="367038">
                <a:tc>
                  <a:txBody>
                    <a:bodyPr/>
                    <a:lstStyle/>
                    <a:p>
                      <a:r>
                        <a:rPr kumimoji="1" lang="en-US" altLang="ja-JP" dirty="0"/>
                        <a:t>4</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44.4</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66.7</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45</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236550"/>
                  </a:ext>
                </a:extLst>
              </a:tr>
              <a:tr h="367038">
                <a:tc>
                  <a:txBody>
                    <a:bodyPr/>
                    <a:lstStyle/>
                    <a:p>
                      <a:r>
                        <a:rPr kumimoji="1" lang="ja-JP" altLang="en-US" dirty="0"/>
                        <a:t>合計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27</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72.8</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16</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43.1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371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35307"/>
                  </a:ext>
                </a:extLst>
              </a:tr>
            </a:tbl>
          </a:graphicData>
        </a:graphic>
      </p:graphicFrame>
      <p:sp>
        <p:nvSpPr>
          <p:cNvPr id="7" name="テキスト ボックス 6">
            <a:extLst>
              <a:ext uri="{FF2B5EF4-FFF2-40B4-BE49-F238E27FC236}">
                <a16:creationId xmlns:a16="http://schemas.microsoft.com/office/drawing/2014/main" id="{2E3FAB86-719E-C595-F831-66AEE0425331}"/>
              </a:ext>
            </a:extLst>
          </p:cNvPr>
          <p:cNvSpPr txBox="1"/>
          <p:nvPr/>
        </p:nvSpPr>
        <p:spPr>
          <a:xfrm>
            <a:off x="79690" y="4985727"/>
            <a:ext cx="9226497" cy="1384995"/>
          </a:xfrm>
          <a:prstGeom prst="rect">
            <a:avLst/>
          </a:prstGeom>
          <a:noFill/>
        </p:spPr>
        <p:txBody>
          <a:bodyPr wrap="square" rtlCol="0">
            <a:spAutoFit/>
          </a:bodyPr>
          <a:lstStyle/>
          <a:p>
            <a:pPr algn="l"/>
            <a:r>
              <a:rPr kumimoji="1" lang="ja-JP" altLang="en-US" sz="2800" dirty="0">
                <a:latin typeface="UD デジタル 教科書体 NK-R" panose="02020400000000000000" pitchFamily="18" charset="-128"/>
                <a:ea typeface="UD デジタル 教科書体 NK-R" panose="02020400000000000000" pitchFamily="18" charset="-128"/>
              </a:rPr>
              <a:t>平均</a:t>
            </a:r>
            <a:r>
              <a:rPr kumimoji="1" lang="en-US" altLang="ja-JP" sz="2800" dirty="0">
                <a:latin typeface="UD デジタル 教科書体 NK-R" panose="02020400000000000000" pitchFamily="18" charset="-128"/>
                <a:ea typeface="UD デジタル 教科書体 NK-R" panose="02020400000000000000" pitchFamily="18" charset="-128"/>
              </a:rPr>
              <a:t>,</a:t>
            </a:r>
            <a:r>
              <a:rPr kumimoji="1" lang="ja-JP" altLang="en-US"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最大値</a:t>
            </a:r>
            <a:r>
              <a:rPr kumimoji="1" lang="en-US" altLang="ja-JP"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a:t>
            </a:r>
            <a:r>
              <a:rPr kumimoji="1" lang="ja-JP" altLang="en-US"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最小値は表のとおり</a:t>
            </a:r>
            <a:endParaRPr kumimoji="1" lang="en-US" altLang="ja-JP"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endParaRPr>
          </a:p>
          <a:p>
            <a:pPr algn="l"/>
            <a:r>
              <a:rPr kumimoji="1" lang="ja-JP" altLang="en-US"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テスト欠陥密度が減っていないが、このほとんどは</a:t>
            </a:r>
            <a:r>
              <a:rPr kumimoji="1" lang="en-US" altLang="ja-JP"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code</a:t>
            </a:r>
            <a:r>
              <a:rPr kumimoji="1" lang="ja-JP" altLang="en-US" sz="2800" dirty="0">
                <a:latin typeface="UD デジタル 教科書体 NK-R" panose="02020400000000000000" pitchFamily="18" charset="-128"/>
                <a:ea typeface="UD デジタル 教科書体 NK-R" panose="02020400000000000000" pitchFamily="18" charset="-128"/>
                <a:sym typeface="Wingdings" panose="05000000000000000000" pitchFamily="2" charset="2"/>
              </a:rPr>
              <a:t>で埋め込まれており、書き間違えが原因であることが多い</a:t>
            </a:r>
            <a:endParaRPr kumimoji="1" lang="ja-JP" altLang="en-US" sz="2800" dirty="0">
              <a:latin typeface="UD デジタル 教科書体 NK-R" panose="02020400000000000000" pitchFamily="18" charset="-128"/>
              <a:ea typeface="UD デジタル 教科書体 NK-R" panose="02020400000000000000" pitchFamily="18" charset="-128"/>
            </a:endParaRPr>
          </a:p>
        </p:txBody>
      </p:sp>
      <p:sp>
        <p:nvSpPr>
          <p:cNvPr id="9" name="テキスト ボックス 8">
            <a:extLst>
              <a:ext uri="{FF2B5EF4-FFF2-40B4-BE49-F238E27FC236}">
                <a16:creationId xmlns:a16="http://schemas.microsoft.com/office/drawing/2014/main" id="{AE1E2B49-030E-564C-7565-5B034AD7D108}"/>
              </a:ext>
            </a:extLst>
          </p:cNvPr>
          <p:cNvSpPr txBox="1"/>
          <p:nvPr/>
        </p:nvSpPr>
        <p:spPr>
          <a:xfrm>
            <a:off x="4572000" y="4524062"/>
            <a:ext cx="5848821" cy="461665"/>
          </a:xfrm>
          <a:prstGeom prst="rect">
            <a:avLst/>
          </a:prstGeom>
          <a:noFill/>
        </p:spPr>
        <p:txBody>
          <a:bodyPr wrap="square" rtlCol="0">
            <a:spAutoFit/>
          </a:bodyPr>
          <a:lstStyle/>
          <a:p>
            <a:pPr algn="l"/>
            <a:r>
              <a:rPr kumimoji="1" lang="ja-JP" altLang="en-US" sz="2400" dirty="0">
                <a:latin typeface="UD デジタル 教科書体 NK-R" panose="02020400000000000000" pitchFamily="18" charset="-128"/>
                <a:ea typeface="UD デジタル 教科書体 NK-R" panose="02020400000000000000" pitchFamily="18" charset="-128"/>
              </a:rPr>
              <a:t>欠陥密度</a:t>
            </a:r>
            <a:r>
              <a:rPr kumimoji="1" lang="en-US" altLang="ja-JP" sz="2400" dirty="0">
                <a:latin typeface="UD デジタル 教科書体 NK-R" panose="02020400000000000000" pitchFamily="18" charset="-128"/>
                <a:ea typeface="UD デジタル 教科書体 NK-R" panose="02020400000000000000" pitchFamily="18" charset="-128"/>
              </a:rPr>
              <a:t>=(</a:t>
            </a:r>
            <a:r>
              <a:rPr kumimoji="1" lang="ja-JP" altLang="en-US" sz="2400" dirty="0">
                <a:latin typeface="UD デジタル 教科書体 NK-R" panose="02020400000000000000" pitchFamily="18" charset="-128"/>
                <a:ea typeface="UD デジタル 教科書体 NK-R" panose="02020400000000000000" pitchFamily="18" charset="-128"/>
              </a:rPr>
              <a:t>欠陥数</a:t>
            </a:r>
            <a:r>
              <a:rPr kumimoji="1" lang="en-US" altLang="ja-JP" sz="2400" dirty="0">
                <a:latin typeface="UD デジタル 教科書体 NK-R" panose="02020400000000000000" pitchFamily="18" charset="-128"/>
                <a:ea typeface="UD デジタル 教科書体 NK-R" panose="02020400000000000000" pitchFamily="18" charset="-128"/>
              </a:rPr>
              <a:t>/</a:t>
            </a:r>
            <a:r>
              <a:rPr kumimoji="1" lang="ja-JP" altLang="en-US" sz="2400" dirty="0">
                <a:latin typeface="UD デジタル 教科書体 NK-R" panose="02020400000000000000" pitchFamily="18" charset="-128"/>
                <a:ea typeface="UD デジタル 教科書体 NK-R" panose="02020400000000000000" pitchFamily="18" charset="-128"/>
              </a:rPr>
              <a:t>規模</a:t>
            </a:r>
            <a:r>
              <a:rPr kumimoji="1" lang="en-US" altLang="ja-JP" sz="2400" dirty="0">
                <a:latin typeface="UD デジタル 教科書体 NK-R" panose="02020400000000000000" pitchFamily="18" charset="-128"/>
                <a:ea typeface="UD デジタル 教科書体 NK-R" panose="02020400000000000000" pitchFamily="18" charset="-128"/>
              </a:rPr>
              <a:t>)*1000</a:t>
            </a:r>
            <a:endParaRPr kumimoji="1" lang="ja-JP" altLang="en-US" sz="2400" dirty="0">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2449730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8B241A-A78A-C699-A439-C6083DEDD566}"/>
              </a:ext>
            </a:extLst>
          </p:cNvPr>
          <p:cNvSpPr>
            <a:spLocks noGrp="1"/>
          </p:cNvSpPr>
          <p:nvPr>
            <p:ph type="title"/>
          </p:nvPr>
        </p:nvSpPr>
        <p:spPr>
          <a:xfrm>
            <a:off x="174770" y="277183"/>
            <a:ext cx="9004086" cy="1450757"/>
          </a:xfrm>
        </p:spPr>
        <p:txBody>
          <a:bodyPr>
            <a:normAutofit/>
          </a:bodyPr>
          <a:lstStyle/>
          <a:p>
            <a:r>
              <a:rPr kumimoji="1" lang="en-US" altLang="ja-JP" sz="4400" dirty="0"/>
              <a:t>3.3 </a:t>
            </a:r>
            <a:r>
              <a:rPr kumimoji="1" lang="ja-JP" altLang="en-US" sz="4400" dirty="0"/>
              <a:t>コンパイルで時間を費やす欠陥型</a:t>
            </a:r>
          </a:p>
        </p:txBody>
      </p:sp>
      <p:sp>
        <p:nvSpPr>
          <p:cNvPr id="4" name="日付プレースホルダー 3">
            <a:extLst>
              <a:ext uri="{FF2B5EF4-FFF2-40B4-BE49-F238E27FC236}">
                <a16:creationId xmlns:a16="http://schemas.microsoft.com/office/drawing/2014/main" id="{2B3BA407-71B0-00A9-F4A8-6D350AF0FBC6}"/>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478C14FE-9306-3EF0-E2C2-2BB9A8133AEE}"/>
              </a:ext>
            </a:extLst>
          </p:cNvPr>
          <p:cNvSpPr>
            <a:spLocks noGrp="1"/>
          </p:cNvSpPr>
          <p:nvPr>
            <p:ph type="sldNum" sz="quarter" idx="12"/>
          </p:nvPr>
        </p:nvSpPr>
        <p:spPr/>
        <p:txBody>
          <a:bodyPr/>
          <a:lstStyle/>
          <a:p>
            <a:fld id="{19A2C8B9-04F9-4575-A401-B86E4A91B12C}" type="slidenum">
              <a:rPr kumimoji="1" lang="ja-JP" altLang="en-US" smtClean="0"/>
              <a:pPr/>
              <a:t>18</a:t>
            </a:fld>
            <a:endParaRPr kumimoji="1" lang="ja-JP" altLang="en-US"/>
          </a:p>
        </p:txBody>
      </p:sp>
      <p:pic>
        <p:nvPicPr>
          <p:cNvPr id="6" name="図 5">
            <a:extLst>
              <a:ext uri="{FF2B5EF4-FFF2-40B4-BE49-F238E27FC236}">
                <a16:creationId xmlns:a16="http://schemas.microsoft.com/office/drawing/2014/main" id="{A4287151-BD41-9396-32CB-8451AB0BCC7B}"/>
              </a:ext>
            </a:extLst>
          </p:cNvPr>
          <p:cNvPicPr>
            <a:picLocks noChangeAspect="1"/>
          </p:cNvPicPr>
          <p:nvPr/>
        </p:nvPicPr>
        <p:blipFill>
          <a:blip r:embed="rId2"/>
          <a:stretch>
            <a:fillRect/>
          </a:stretch>
        </p:blipFill>
        <p:spPr>
          <a:xfrm>
            <a:off x="1396262" y="1787468"/>
            <a:ext cx="6351476" cy="3708004"/>
          </a:xfrm>
          <a:prstGeom prst="rect">
            <a:avLst/>
          </a:prstGeom>
        </p:spPr>
      </p:pic>
      <p:sp>
        <p:nvSpPr>
          <p:cNvPr id="3" name="コンテンツ プレースホルダー 2">
            <a:extLst>
              <a:ext uri="{FF2B5EF4-FFF2-40B4-BE49-F238E27FC236}">
                <a16:creationId xmlns:a16="http://schemas.microsoft.com/office/drawing/2014/main" id="{73FB573B-FBBF-8ED3-9B5E-F04A33E4801A}"/>
              </a:ext>
            </a:extLst>
          </p:cNvPr>
          <p:cNvSpPr>
            <a:spLocks noGrp="1"/>
          </p:cNvSpPr>
          <p:nvPr>
            <p:ph idx="1"/>
          </p:nvPr>
        </p:nvSpPr>
        <p:spPr>
          <a:xfrm>
            <a:off x="174770" y="5350464"/>
            <a:ext cx="8715842" cy="2051631"/>
          </a:xfrm>
        </p:spPr>
        <p:txBody>
          <a:bodyPr>
            <a:normAutofit/>
          </a:bodyPr>
          <a:lstStyle/>
          <a:p>
            <a:pPr marL="0" indent="0">
              <a:buNone/>
            </a:pPr>
            <a:r>
              <a:rPr lang="en-US" altLang="ja-JP" sz="2400" dirty="0"/>
              <a:t>compile</a:t>
            </a:r>
            <a:r>
              <a:rPr kumimoji="1" lang="ja-JP" altLang="en-US" sz="2400" dirty="0"/>
              <a:t>で取り除いた</a:t>
            </a:r>
            <a:r>
              <a:rPr kumimoji="1" lang="en-US" altLang="ja-JP" sz="2400" dirty="0"/>
              <a:t>interface</a:t>
            </a:r>
            <a:r>
              <a:rPr kumimoji="1" lang="ja-JP" altLang="en-US" sz="2400" dirty="0"/>
              <a:t>欠陥には</a:t>
            </a:r>
            <a:r>
              <a:rPr lang="ja-JP" altLang="en-US" sz="2400" dirty="0"/>
              <a:t>メソッド呼び出し元クラス名の指定忘れなどがあったが、課題</a:t>
            </a:r>
            <a:r>
              <a:rPr lang="en-US" altLang="ja-JP" sz="2400" dirty="0"/>
              <a:t>1</a:t>
            </a:r>
            <a:r>
              <a:rPr lang="ja-JP" altLang="en-US" sz="2400" dirty="0"/>
              <a:t>では</a:t>
            </a:r>
            <a:r>
              <a:rPr lang="en-US" altLang="ja-JP" sz="2400" dirty="0"/>
              <a:t>3</a:t>
            </a:r>
            <a:r>
              <a:rPr lang="ja-JP" altLang="en-US" sz="2400" dirty="0"/>
              <a:t>個</a:t>
            </a:r>
            <a:r>
              <a:rPr lang="en-US" altLang="ja-JP" sz="2400" dirty="0"/>
              <a:t>44.9</a:t>
            </a:r>
            <a:r>
              <a:rPr lang="ja-JP" altLang="en-US" sz="2400" dirty="0"/>
              <a:t>分課題</a:t>
            </a:r>
            <a:r>
              <a:rPr lang="en-US" altLang="ja-JP" sz="2400" dirty="0"/>
              <a:t>2</a:t>
            </a:r>
            <a:r>
              <a:rPr lang="ja-JP" altLang="en-US" sz="2400" dirty="0"/>
              <a:t>では</a:t>
            </a:r>
            <a:r>
              <a:rPr lang="en-US" altLang="ja-JP" sz="2400" dirty="0"/>
              <a:t>1</a:t>
            </a:r>
            <a:r>
              <a:rPr lang="ja-JP" altLang="en-US" sz="2400" dirty="0"/>
              <a:t>個</a:t>
            </a:r>
            <a:r>
              <a:rPr lang="en-US" altLang="ja-JP" sz="2400" dirty="0"/>
              <a:t>2.8</a:t>
            </a:r>
            <a:r>
              <a:rPr lang="ja-JP" altLang="en-US" sz="2400" dirty="0"/>
              <a:t>分、課題</a:t>
            </a:r>
            <a:r>
              <a:rPr lang="en-US" altLang="ja-JP" sz="2400" dirty="0"/>
              <a:t>3,4</a:t>
            </a:r>
            <a:r>
              <a:rPr lang="ja-JP" altLang="en-US" sz="2400" dirty="0"/>
              <a:t>では</a:t>
            </a:r>
            <a:r>
              <a:rPr lang="en-US" altLang="ja-JP" sz="2400" dirty="0"/>
              <a:t>0</a:t>
            </a:r>
            <a:r>
              <a:rPr lang="ja-JP" altLang="en-US" sz="2400" dirty="0"/>
              <a:t>個と減少している</a:t>
            </a:r>
            <a:endParaRPr lang="en-US" altLang="ja-JP" sz="2400" dirty="0"/>
          </a:p>
        </p:txBody>
      </p:sp>
    </p:spTree>
    <p:extLst>
      <p:ext uri="{BB962C8B-B14F-4D97-AF65-F5344CB8AC3E}">
        <p14:creationId xmlns:p14="http://schemas.microsoft.com/office/powerpoint/2010/main" val="2008674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8B241A-A78A-C699-A439-C6083DEDD566}"/>
              </a:ext>
            </a:extLst>
          </p:cNvPr>
          <p:cNvSpPr>
            <a:spLocks noGrp="1"/>
          </p:cNvSpPr>
          <p:nvPr>
            <p:ph type="title"/>
          </p:nvPr>
        </p:nvSpPr>
        <p:spPr>
          <a:xfrm>
            <a:off x="393302" y="248443"/>
            <a:ext cx="8750698" cy="1450757"/>
          </a:xfrm>
        </p:spPr>
        <p:txBody>
          <a:bodyPr/>
          <a:lstStyle/>
          <a:p>
            <a:r>
              <a:rPr kumimoji="1" lang="en-US" altLang="ja-JP" dirty="0"/>
              <a:t>3.3 </a:t>
            </a:r>
            <a:r>
              <a:rPr kumimoji="1" lang="ja-JP" altLang="en-US" dirty="0"/>
              <a:t>テストで時間を費やす欠陥型</a:t>
            </a:r>
          </a:p>
        </p:txBody>
      </p:sp>
      <p:sp>
        <p:nvSpPr>
          <p:cNvPr id="3" name="コンテンツ プレースホルダー 2">
            <a:extLst>
              <a:ext uri="{FF2B5EF4-FFF2-40B4-BE49-F238E27FC236}">
                <a16:creationId xmlns:a16="http://schemas.microsoft.com/office/drawing/2014/main" id="{73FB573B-FBBF-8ED3-9B5E-F04A33E4801A}"/>
              </a:ext>
            </a:extLst>
          </p:cNvPr>
          <p:cNvSpPr>
            <a:spLocks noGrp="1"/>
          </p:cNvSpPr>
          <p:nvPr>
            <p:ph idx="1"/>
          </p:nvPr>
        </p:nvSpPr>
        <p:spPr>
          <a:xfrm>
            <a:off x="217373" y="5583741"/>
            <a:ext cx="8191990" cy="2051631"/>
          </a:xfrm>
        </p:spPr>
        <p:txBody>
          <a:bodyPr>
            <a:normAutofit/>
          </a:bodyPr>
          <a:lstStyle/>
          <a:p>
            <a:pPr marL="0" indent="0">
              <a:buNone/>
            </a:pPr>
            <a:r>
              <a:rPr lang="en-US" altLang="ja-JP" dirty="0"/>
              <a:t>test</a:t>
            </a:r>
            <a:r>
              <a:rPr lang="ja-JP" altLang="en-US" dirty="0"/>
              <a:t>で取り除いた</a:t>
            </a:r>
            <a:r>
              <a:rPr lang="en-US" altLang="ja-JP" dirty="0"/>
              <a:t>syntax</a:t>
            </a:r>
            <a:r>
              <a:rPr lang="ja-JP" altLang="en-US" dirty="0"/>
              <a:t>欠陥は</a:t>
            </a:r>
            <a:r>
              <a:rPr lang="en-US" altLang="ja-JP" dirty="0"/>
              <a:t>code</a:t>
            </a:r>
            <a:r>
              <a:rPr lang="ja-JP" altLang="en-US" dirty="0"/>
              <a:t>で埋め込んだ書き間違えがそのほとんどを占めていた</a:t>
            </a:r>
            <a:endParaRPr lang="en-US" altLang="ja-JP" dirty="0"/>
          </a:p>
        </p:txBody>
      </p:sp>
      <p:sp>
        <p:nvSpPr>
          <p:cNvPr id="4" name="日付プレースホルダー 3">
            <a:extLst>
              <a:ext uri="{FF2B5EF4-FFF2-40B4-BE49-F238E27FC236}">
                <a16:creationId xmlns:a16="http://schemas.microsoft.com/office/drawing/2014/main" id="{2B3BA407-71B0-00A9-F4A8-6D350AF0FBC6}"/>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478C14FE-9306-3EF0-E2C2-2BB9A8133AEE}"/>
              </a:ext>
            </a:extLst>
          </p:cNvPr>
          <p:cNvSpPr>
            <a:spLocks noGrp="1"/>
          </p:cNvSpPr>
          <p:nvPr>
            <p:ph type="sldNum" sz="quarter" idx="12"/>
          </p:nvPr>
        </p:nvSpPr>
        <p:spPr/>
        <p:txBody>
          <a:bodyPr/>
          <a:lstStyle/>
          <a:p>
            <a:fld id="{19A2C8B9-04F9-4575-A401-B86E4A91B12C}" type="slidenum">
              <a:rPr kumimoji="1" lang="ja-JP" altLang="en-US" smtClean="0"/>
              <a:pPr/>
              <a:t>19</a:t>
            </a:fld>
            <a:endParaRPr kumimoji="1" lang="ja-JP" altLang="en-US"/>
          </a:p>
        </p:txBody>
      </p:sp>
      <p:pic>
        <p:nvPicPr>
          <p:cNvPr id="8" name="図 7">
            <a:extLst>
              <a:ext uri="{FF2B5EF4-FFF2-40B4-BE49-F238E27FC236}">
                <a16:creationId xmlns:a16="http://schemas.microsoft.com/office/drawing/2014/main" id="{3E22FF07-6721-0FB0-48CC-21A9A6A59D71}"/>
              </a:ext>
            </a:extLst>
          </p:cNvPr>
          <p:cNvPicPr>
            <a:picLocks noChangeAspect="1"/>
          </p:cNvPicPr>
          <p:nvPr/>
        </p:nvPicPr>
        <p:blipFill>
          <a:blip r:embed="rId2"/>
          <a:stretch>
            <a:fillRect/>
          </a:stretch>
        </p:blipFill>
        <p:spPr>
          <a:xfrm>
            <a:off x="1395545" y="1784961"/>
            <a:ext cx="6352909" cy="3713018"/>
          </a:xfrm>
          <a:prstGeom prst="rect">
            <a:avLst/>
          </a:prstGeom>
        </p:spPr>
      </p:pic>
    </p:spTree>
    <p:extLst>
      <p:ext uri="{BB962C8B-B14F-4D97-AF65-F5344CB8AC3E}">
        <p14:creationId xmlns:p14="http://schemas.microsoft.com/office/powerpoint/2010/main" val="1711666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8CAE8F-1C0F-A006-4E1D-B39748C1EC84}"/>
              </a:ext>
            </a:extLst>
          </p:cNvPr>
          <p:cNvSpPr>
            <a:spLocks noGrp="1"/>
          </p:cNvSpPr>
          <p:nvPr>
            <p:ph type="title"/>
          </p:nvPr>
        </p:nvSpPr>
        <p:spPr>
          <a:xfrm>
            <a:off x="58640" y="263527"/>
            <a:ext cx="9072438" cy="1450757"/>
          </a:xfrm>
        </p:spPr>
        <p:txBody>
          <a:bodyPr>
            <a:normAutofit/>
          </a:bodyPr>
          <a:lstStyle/>
          <a:p>
            <a:r>
              <a:rPr kumimoji="1" lang="en-US" altLang="ja-JP" sz="4000" dirty="0"/>
              <a:t>3.4-1 </a:t>
            </a:r>
            <a:r>
              <a:rPr kumimoji="1" lang="ja-JP" altLang="en-US" sz="4000" dirty="0"/>
              <a:t>各欠陥型が埋め込まれるフェーズ</a:t>
            </a:r>
          </a:p>
        </p:txBody>
      </p:sp>
      <p:sp>
        <p:nvSpPr>
          <p:cNvPr id="4" name="日付プレースホルダー 3">
            <a:extLst>
              <a:ext uri="{FF2B5EF4-FFF2-40B4-BE49-F238E27FC236}">
                <a16:creationId xmlns:a16="http://schemas.microsoft.com/office/drawing/2014/main" id="{D4BAB681-9DA7-192C-32C7-1F8E4A296023}"/>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EADB0313-79D9-FF77-DE01-F804871C3FC1}"/>
              </a:ext>
            </a:extLst>
          </p:cNvPr>
          <p:cNvSpPr>
            <a:spLocks noGrp="1"/>
          </p:cNvSpPr>
          <p:nvPr>
            <p:ph type="sldNum" sz="quarter" idx="12"/>
          </p:nvPr>
        </p:nvSpPr>
        <p:spPr/>
        <p:txBody>
          <a:bodyPr/>
          <a:lstStyle/>
          <a:p>
            <a:fld id="{19A2C8B9-04F9-4575-A401-B86E4A91B12C}" type="slidenum">
              <a:rPr kumimoji="1" lang="ja-JP" altLang="en-US" smtClean="0"/>
              <a:pPr/>
              <a:t>20</a:t>
            </a:fld>
            <a:endParaRPr kumimoji="1" lang="ja-JP" altLang="en-US"/>
          </a:p>
        </p:txBody>
      </p:sp>
      <p:pic>
        <p:nvPicPr>
          <p:cNvPr id="9" name="図 8" descr="グラフ&#10;&#10;AI 生成コンテンツは誤りを含む可能性があります。">
            <a:extLst>
              <a:ext uri="{FF2B5EF4-FFF2-40B4-BE49-F238E27FC236}">
                <a16:creationId xmlns:a16="http://schemas.microsoft.com/office/drawing/2014/main" id="{D54BC846-B0CC-9C31-F4EB-57860A37C4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7718" y="1975328"/>
            <a:ext cx="4513360" cy="2635876"/>
          </a:xfrm>
          <a:prstGeom prst="rect">
            <a:avLst/>
          </a:prstGeom>
        </p:spPr>
      </p:pic>
      <p:pic>
        <p:nvPicPr>
          <p:cNvPr id="13" name="図 12" descr="グラフ&#10;&#10;AI 生成コンテンツは誤りを含む可能性があります。">
            <a:extLst>
              <a:ext uri="{FF2B5EF4-FFF2-40B4-BE49-F238E27FC236}">
                <a16:creationId xmlns:a16="http://schemas.microsoft.com/office/drawing/2014/main" id="{AAE12913-2BFA-8F8A-4FEC-0DC42257C0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12" y="1975328"/>
            <a:ext cx="4515671" cy="2635876"/>
          </a:xfrm>
          <a:prstGeom prst="rect">
            <a:avLst/>
          </a:prstGeom>
        </p:spPr>
      </p:pic>
    </p:spTree>
    <p:extLst>
      <p:ext uri="{BB962C8B-B14F-4D97-AF65-F5344CB8AC3E}">
        <p14:creationId xmlns:p14="http://schemas.microsoft.com/office/powerpoint/2010/main" val="30754389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8CAE8F-1C0F-A006-4E1D-B39748C1EC84}"/>
              </a:ext>
            </a:extLst>
          </p:cNvPr>
          <p:cNvSpPr>
            <a:spLocks noGrp="1"/>
          </p:cNvSpPr>
          <p:nvPr>
            <p:ph type="title"/>
          </p:nvPr>
        </p:nvSpPr>
        <p:spPr>
          <a:xfrm>
            <a:off x="58640" y="263527"/>
            <a:ext cx="9072438" cy="1450757"/>
          </a:xfrm>
        </p:spPr>
        <p:txBody>
          <a:bodyPr>
            <a:normAutofit/>
          </a:bodyPr>
          <a:lstStyle/>
          <a:p>
            <a:r>
              <a:rPr kumimoji="1" lang="en-US" altLang="ja-JP" sz="4000" dirty="0"/>
              <a:t>3.4-2 </a:t>
            </a:r>
            <a:r>
              <a:rPr kumimoji="1" lang="ja-JP" altLang="en-US" sz="4000" dirty="0"/>
              <a:t>各欠陥型が埋め込まれるフェーズ</a:t>
            </a:r>
          </a:p>
        </p:txBody>
      </p:sp>
      <p:sp>
        <p:nvSpPr>
          <p:cNvPr id="4" name="日付プレースホルダー 3">
            <a:extLst>
              <a:ext uri="{FF2B5EF4-FFF2-40B4-BE49-F238E27FC236}">
                <a16:creationId xmlns:a16="http://schemas.microsoft.com/office/drawing/2014/main" id="{D4BAB681-9DA7-192C-32C7-1F8E4A296023}"/>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EADB0313-79D9-FF77-DE01-F804871C3FC1}"/>
              </a:ext>
            </a:extLst>
          </p:cNvPr>
          <p:cNvSpPr>
            <a:spLocks noGrp="1"/>
          </p:cNvSpPr>
          <p:nvPr>
            <p:ph type="sldNum" sz="quarter" idx="12"/>
          </p:nvPr>
        </p:nvSpPr>
        <p:spPr/>
        <p:txBody>
          <a:bodyPr/>
          <a:lstStyle/>
          <a:p>
            <a:fld id="{19A2C8B9-04F9-4575-A401-B86E4A91B12C}" type="slidenum">
              <a:rPr kumimoji="1" lang="ja-JP" altLang="en-US" smtClean="0"/>
              <a:pPr/>
              <a:t>21</a:t>
            </a:fld>
            <a:endParaRPr kumimoji="1" lang="ja-JP" altLang="en-US"/>
          </a:p>
        </p:txBody>
      </p:sp>
      <p:pic>
        <p:nvPicPr>
          <p:cNvPr id="6" name="図 5" descr="グラフ, ヒストグラム&#10;&#10;AI 生成コンテンツは誤りを含む可能性があります。">
            <a:extLst>
              <a:ext uri="{FF2B5EF4-FFF2-40B4-BE49-F238E27FC236}">
                <a16:creationId xmlns:a16="http://schemas.microsoft.com/office/drawing/2014/main" id="{95623935-C892-00A6-9BE2-0CBCA3555F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40" y="1975328"/>
            <a:ext cx="4513360" cy="2634527"/>
          </a:xfrm>
          <a:prstGeom prst="rect">
            <a:avLst/>
          </a:prstGeom>
        </p:spPr>
      </p:pic>
      <p:pic>
        <p:nvPicPr>
          <p:cNvPr id="10" name="図 9" descr="グラフ&#10;&#10;AI 生成コンテンツは誤りを含む可能性があります。">
            <a:extLst>
              <a:ext uri="{FF2B5EF4-FFF2-40B4-BE49-F238E27FC236}">
                <a16:creationId xmlns:a16="http://schemas.microsoft.com/office/drawing/2014/main" id="{A425E6B4-B83F-1C78-68BD-37F32F2605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0028" y="1975327"/>
            <a:ext cx="4511050" cy="2634527"/>
          </a:xfrm>
          <a:prstGeom prst="rect">
            <a:avLst/>
          </a:prstGeom>
        </p:spPr>
      </p:pic>
      <p:sp>
        <p:nvSpPr>
          <p:cNvPr id="11" name="テキスト ボックス 10">
            <a:extLst>
              <a:ext uri="{FF2B5EF4-FFF2-40B4-BE49-F238E27FC236}">
                <a16:creationId xmlns:a16="http://schemas.microsoft.com/office/drawing/2014/main" id="{EE8DEFB1-36B8-166B-CD66-C56FB1EC4F41}"/>
              </a:ext>
            </a:extLst>
          </p:cNvPr>
          <p:cNvSpPr txBox="1"/>
          <p:nvPr/>
        </p:nvSpPr>
        <p:spPr>
          <a:xfrm>
            <a:off x="198783" y="4873597"/>
            <a:ext cx="8932295" cy="1200329"/>
          </a:xfrm>
          <a:prstGeom prst="rect">
            <a:avLst/>
          </a:prstGeom>
          <a:noFill/>
        </p:spPr>
        <p:txBody>
          <a:bodyPr wrap="square" rtlCol="0">
            <a:spAutoFit/>
          </a:bodyPr>
          <a:lstStyle/>
          <a:p>
            <a:pPr algn="l"/>
            <a:r>
              <a:rPr kumimoji="1" lang="ja-JP" altLang="en-US" sz="2400" dirty="0">
                <a:latin typeface="UD デジタル 教科書体 NK-R" panose="02020400000000000000" pitchFamily="18" charset="-128"/>
                <a:ea typeface="UD デジタル 教科書体 NK-R" panose="02020400000000000000" pitchFamily="18" charset="-128"/>
              </a:rPr>
              <a:t>図にしていないが</a:t>
            </a:r>
            <a:r>
              <a:rPr kumimoji="1" lang="en-US" altLang="ja-JP" sz="2400" dirty="0">
                <a:latin typeface="UD デジタル 教科書体 NK-R" panose="02020400000000000000" pitchFamily="18" charset="-128"/>
                <a:ea typeface="UD デジタル 教科書体 NK-R" panose="02020400000000000000" pitchFamily="18" charset="-128"/>
              </a:rPr>
              <a:t>documentation</a:t>
            </a:r>
            <a:r>
              <a:rPr kumimoji="1" lang="ja-JP" altLang="en-US" sz="2400" dirty="0">
                <a:latin typeface="UD デジタル 教科書体 NK-R" panose="02020400000000000000" pitchFamily="18" charset="-128"/>
                <a:ea typeface="UD デジタル 教科書体 NK-R" panose="02020400000000000000" pitchFamily="18" charset="-128"/>
              </a:rPr>
              <a:t>はすべて</a:t>
            </a:r>
            <a:r>
              <a:rPr kumimoji="1" lang="en-US" altLang="ja-JP" sz="2400" dirty="0">
                <a:latin typeface="UD デジタル 教科書体 NK-R" panose="02020400000000000000" pitchFamily="18" charset="-128"/>
                <a:ea typeface="UD デジタル 教科書体 NK-R" panose="02020400000000000000" pitchFamily="18" charset="-128"/>
              </a:rPr>
              <a:t>plan</a:t>
            </a:r>
            <a:r>
              <a:rPr kumimoji="1" lang="ja-JP" altLang="en-US" sz="2400" dirty="0">
                <a:latin typeface="UD デジタル 教科書体 NK-R" panose="02020400000000000000" pitchFamily="18" charset="-128"/>
                <a:ea typeface="UD デジタル 教科書体 NK-R" panose="02020400000000000000" pitchFamily="18" charset="-128"/>
              </a:rPr>
              <a:t>で埋め込まれた</a:t>
            </a:r>
            <a:endParaRPr kumimoji="1" lang="en-US" altLang="ja-JP" sz="2400" dirty="0">
              <a:latin typeface="UD デジタル 教科書体 NK-R" panose="02020400000000000000" pitchFamily="18" charset="-128"/>
              <a:ea typeface="UD デジタル 教科書体 NK-R" panose="02020400000000000000" pitchFamily="18" charset="-128"/>
            </a:endParaRPr>
          </a:p>
          <a:p>
            <a:pPr algn="l"/>
            <a:r>
              <a:rPr kumimoji="1" lang="en-US" altLang="ja-JP" sz="2400" dirty="0">
                <a:latin typeface="UD デジタル 教科書体 NK-R" panose="02020400000000000000" pitchFamily="18" charset="-128"/>
                <a:ea typeface="UD デジタル 教科書体 NK-R" panose="02020400000000000000" pitchFamily="18" charset="-128"/>
              </a:rPr>
              <a:t>documentation</a:t>
            </a:r>
            <a:r>
              <a:rPr kumimoji="1" lang="ja-JP" altLang="en-US" sz="2400" dirty="0">
                <a:latin typeface="UD デジタル 教科書体 NK-R" panose="02020400000000000000" pitchFamily="18" charset="-128"/>
                <a:ea typeface="UD デジタル 教科書体 NK-R" panose="02020400000000000000" pitchFamily="18" charset="-128"/>
              </a:rPr>
              <a:t>を除くすべての欠陥型で</a:t>
            </a:r>
            <a:r>
              <a:rPr kumimoji="1" lang="en-US" altLang="ja-JP" sz="2400" dirty="0">
                <a:latin typeface="UD デジタル 教科書体 NK-R" panose="02020400000000000000" pitchFamily="18" charset="-128"/>
                <a:ea typeface="UD デジタル 教科書体 NK-R" panose="02020400000000000000" pitchFamily="18" charset="-128"/>
              </a:rPr>
              <a:t>code</a:t>
            </a:r>
            <a:r>
              <a:rPr kumimoji="1" lang="ja-JP" altLang="en-US" sz="2400" dirty="0">
                <a:latin typeface="UD デジタル 教科書体 NK-R" panose="02020400000000000000" pitchFamily="18" charset="-128"/>
                <a:ea typeface="UD デジタル 教科書体 NK-R" panose="02020400000000000000" pitchFamily="18" charset="-128"/>
              </a:rPr>
              <a:t>で最も多く埋め込まれ、次に</a:t>
            </a:r>
            <a:r>
              <a:rPr kumimoji="1" lang="en-US" altLang="ja-JP" sz="2400" dirty="0">
                <a:latin typeface="UD デジタル 教科書体 NK-R" panose="02020400000000000000" pitchFamily="18" charset="-128"/>
                <a:ea typeface="UD デジタル 教科書体 NK-R" panose="02020400000000000000" pitchFamily="18" charset="-128"/>
              </a:rPr>
              <a:t>design</a:t>
            </a:r>
            <a:r>
              <a:rPr kumimoji="1" lang="ja-JP" altLang="en-US" sz="2400" dirty="0">
                <a:latin typeface="UD デジタル 教科書体 NK-R" panose="02020400000000000000" pitchFamily="18" charset="-128"/>
                <a:ea typeface="UD デジタル 教科書体 NK-R" panose="02020400000000000000" pitchFamily="18" charset="-128"/>
              </a:rPr>
              <a:t>と続いた。</a:t>
            </a:r>
          </a:p>
        </p:txBody>
      </p:sp>
    </p:spTree>
    <p:extLst>
      <p:ext uri="{BB962C8B-B14F-4D97-AF65-F5344CB8AC3E}">
        <p14:creationId xmlns:p14="http://schemas.microsoft.com/office/powerpoint/2010/main" val="577993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AFBE78-FC13-E783-1474-36E60D3E3C02}"/>
              </a:ext>
            </a:extLst>
          </p:cNvPr>
          <p:cNvSpPr>
            <a:spLocks noGrp="1"/>
          </p:cNvSpPr>
          <p:nvPr>
            <p:ph type="title"/>
          </p:nvPr>
        </p:nvSpPr>
        <p:spPr/>
        <p:txBody>
          <a:bodyPr/>
          <a:lstStyle/>
          <a:p>
            <a:endParaRPr kumimoji="1" lang="ja-JP" altLang="en-US"/>
          </a:p>
        </p:txBody>
      </p:sp>
      <p:pic>
        <p:nvPicPr>
          <p:cNvPr id="7" name="コンテンツ プレースホルダー 6" descr="グラフ&#10;&#10;AI 生成コンテンツは誤りを含む可能性があります。">
            <a:extLst>
              <a:ext uri="{FF2B5EF4-FFF2-40B4-BE49-F238E27FC236}">
                <a16:creationId xmlns:a16="http://schemas.microsoft.com/office/drawing/2014/main" id="{B5D67C21-0ABD-813E-470D-6C5D770DF7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9041" y="1618234"/>
            <a:ext cx="5411638" cy="3158867"/>
          </a:xfrm>
        </p:spPr>
      </p:pic>
      <p:sp>
        <p:nvSpPr>
          <p:cNvPr id="4" name="日付プレースホルダー 3">
            <a:extLst>
              <a:ext uri="{FF2B5EF4-FFF2-40B4-BE49-F238E27FC236}">
                <a16:creationId xmlns:a16="http://schemas.microsoft.com/office/drawing/2014/main" id="{041298BD-D02E-21EB-1E50-C2A947E823AB}"/>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F2CDE4D5-517A-A0FC-0B8F-DF8CA6B3E5AB}"/>
              </a:ext>
            </a:extLst>
          </p:cNvPr>
          <p:cNvSpPr>
            <a:spLocks noGrp="1"/>
          </p:cNvSpPr>
          <p:nvPr>
            <p:ph type="sldNum" sz="quarter" idx="12"/>
          </p:nvPr>
        </p:nvSpPr>
        <p:spPr/>
        <p:txBody>
          <a:bodyPr/>
          <a:lstStyle/>
          <a:p>
            <a:fld id="{19A2C8B9-04F9-4575-A401-B86E4A91B12C}" type="slidenum">
              <a:rPr kumimoji="1" lang="ja-JP" altLang="en-US" smtClean="0"/>
              <a:pPr/>
              <a:t>22</a:t>
            </a:fld>
            <a:endParaRPr kumimoji="1" lang="ja-JP" altLang="en-US"/>
          </a:p>
        </p:txBody>
      </p:sp>
    </p:spTree>
    <p:extLst>
      <p:ext uri="{BB962C8B-B14F-4D97-AF65-F5344CB8AC3E}">
        <p14:creationId xmlns:p14="http://schemas.microsoft.com/office/powerpoint/2010/main" val="32059036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DD6AB5-3810-F5D8-E90F-3F34868C3CE7}"/>
              </a:ext>
            </a:extLst>
          </p:cNvPr>
          <p:cNvSpPr>
            <a:spLocks noGrp="1"/>
          </p:cNvSpPr>
          <p:nvPr>
            <p:ph type="title"/>
          </p:nvPr>
        </p:nvSpPr>
        <p:spPr>
          <a:xfrm>
            <a:off x="636104" y="263527"/>
            <a:ext cx="7730656" cy="1450757"/>
          </a:xfrm>
        </p:spPr>
        <p:txBody>
          <a:bodyPr>
            <a:normAutofit/>
          </a:bodyPr>
          <a:lstStyle/>
          <a:p>
            <a:r>
              <a:rPr kumimoji="1" lang="en-US" altLang="ja-JP" sz="4400" dirty="0"/>
              <a:t>4.1 </a:t>
            </a:r>
            <a:r>
              <a:rPr kumimoji="1" lang="ja-JP" altLang="en-US" sz="4400" dirty="0"/>
              <a:t>各フェーズの時間割合</a:t>
            </a:r>
            <a:r>
              <a:rPr kumimoji="1" lang="en-US" altLang="ja-JP" sz="4400" dirty="0"/>
              <a:t>(%)</a:t>
            </a:r>
            <a:endParaRPr kumimoji="1" lang="ja-JP" altLang="en-US" sz="4400" dirty="0"/>
          </a:p>
        </p:txBody>
      </p:sp>
      <p:sp>
        <p:nvSpPr>
          <p:cNvPr id="4" name="日付プレースホルダー 3">
            <a:extLst>
              <a:ext uri="{FF2B5EF4-FFF2-40B4-BE49-F238E27FC236}">
                <a16:creationId xmlns:a16="http://schemas.microsoft.com/office/drawing/2014/main" id="{92825FEE-C9D4-19D4-01D6-BCDA42FEBDBE}"/>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B21AC3C6-C76D-67BF-B727-32168C8CF56A}"/>
              </a:ext>
            </a:extLst>
          </p:cNvPr>
          <p:cNvSpPr>
            <a:spLocks noGrp="1"/>
          </p:cNvSpPr>
          <p:nvPr>
            <p:ph type="sldNum" sz="quarter" idx="12"/>
          </p:nvPr>
        </p:nvSpPr>
        <p:spPr/>
        <p:txBody>
          <a:bodyPr/>
          <a:lstStyle/>
          <a:p>
            <a:fld id="{19A2C8B9-04F9-4575-A401-B86E4A91B12C}" type="slidenum">
              <a:rPr kumimoji="1" lang="ja-JP" altLang="en-US" smtClean="0"/>
              <a:pPr/>
              <a:t>23</a:t>
            </a:fld>
            <a:endParaRPr kumimoji="1" lang="ja-JP" altLang="en-US"/>
          </a:p>
        </p:txBody>
      </p:sp>
      <p:sp>
        <p:nvSpPr>
          <p:cNvPr id="10" name="テキスト ボックス 9">
            <a:extLst>
              <a:ext uri="{FF2B5EF4-FFF2-40B4-BE49-F238E27FC236}">
                <a16:creationId xmlns:a16="http://schemas.microsoft.com/office/drawing/2014/main" id="{9C98418D-4740-E70B-ED7E-7C120A95284D}"/>
              </a:ext>
            </a:extLst>
          </p:cNvPr>
          <p:cNvSpPr txBox="1"/>
          <p:nvPr/>
        </p:nvSpPr>
        <p:spPr>
          <a:xfrm>
            <a:off x="84334" y="5499955"/>
            <a:ext cx="9059666" cy="707886"/>
          </a:xfrm>
          <a:prstGeom prst="rect">
            <a:avLst/>
          </a:prstGeom>
          <a:noFill/>
        </p:spPr>
        <p:txBody>
          <a:bodyPr wrap="square" rtlCol="0">
            <a:spAutoFit/>
          </a:bodyPr>
          <a:lstStyle/>
          <a:p>
            <a:pPr algn="l"/>
            <a:r>
              <a:rPr kumimoji="1" lang="ja-JP" altLang="en-US" sz="2000" dirty="0">
                <a:latin typeface="UD デジタル 教科書体 NK-R" panose="02020400000000000000" pitchFamily="18" charset="-128"/>
                <a:ea typeface="UD デジタル 教科書体 NK-R" panose="02020400000000000000" pitchFamily="18" charset="-128"/>
              </a:rPr>
              <a:t>全</a:t>
            </a:r>
            <a:r>
              <a:rPr kumimoji="1" lang="en-US" altLang="ja-JP" sz="2000" dirty="0">
                <a:latin typeface="UD デジタル 教科書体 NK-R" panose="02020400000000000000" pitchFamily="18" charset="-128"/>
                <a:ea typeface="UD デジタル 教科書体 NK-R" panose="02020400000000000000" pitchFamily="18" charset="-128"/>
              </a:rPr>
              <a:t>6</a:t>
            </a:r>
            <a:r>
              <a:rPr kumimoji="1" lang="ja-JP" altLang="en-US" sz="2000" dirty="0">
                <a:latin typeface="UD デジタル 教科書体 NK-R" panose="02020400000000000000" pitchFamily="18" charset="-128"/>
                <a:ea typeface="UD デジタル 教科書体 NK-R" panose="02020400000000000000" pitchFamily="18" charset="-128"/>
              </a:rPr>
              <a:t>工程のうち</a:t>
            </a:r>
            <a:r>
              <a:rPr kumimoji="1" lang="en-US" altLang="ja-JP" sz="2000" dirty="0">
                <a:latin typeface="UD デジタル 教科書体 NK-R" panose="02020400000000000000" pitchFamily="18" charset="-128"/>
                <a:ea typeface="UD デジタル 教科書体 NK-R" panose="02020400000000000000" pitchFamily="18" charset="-128"/>
              </a:rPr>
              <a:t>3</a:t>
            </a:r>
            <a:r>
              <a:rPr kumimoji="1" lang="ja-JP" altLang="en-US" sz="2000" dirty="0">
                <a:latin typeface="UD デジタル 教科書体 NK-R" panose="02020400000000000000" pitchFamily="18" charset="-128"/>
                <a:ea typeface="UD デジタル 教科書体 NK-R" panose="02020400000000000000" pitchFamily="18" charset="-128"/>
              </a:rPr>
              <a:t>分の</a:t>
            </a:r>
            <a:r>
              <a:rPr kumimoji="1" lang="en-US" altLang="ja-JP" sz="2000" dirty="0">
                <a:latin typeface="UD デジタル 教科書体 NK-R" panose="02020400000000000000" pitchFamily="18" charset="-128"/>
                <a:ea typeface="UD デジタル 教科書体 NK-R" panose="02020400000000000000" pitchFamily="18" charset="-128"/>
              </a:rPr>
              <a:t>1</a:t>
            </a:r>
            <a:r>
              <a:rPr kumimoji="1" lang="ja-JP" altLang="en-US" sz="2000" dirty="0">
                <a:latin typeface="UD デジタル 教科書体 NK-R" panose="02020400000000000000" pitchFamily="18" charset="-128"/>
                <a:ea typeface="UD デジタル 教科書体 NK-R" panose="02020400000000000000" pitchFamily="18" charset="-128"/>
              </a:rPr>
              <a:t>の時間を</a:t>
            </a:r>
            <a:r>
              <a:rPr kumimoji="1" lang="en-US" altLang="ja-JP" sz="2000" dirty="0">
                <a:latin typeface="UD デジタル 教科書体 NK-R" panose="02020400000000000000" pitchFamily="18" charset="-128"/>
                <a:ea typeface="UD デジタル 教科書体 NK-R" panose="02020400000000000000" pitchFamily="18" charset="-128"/>
              </a:rPr>
              <a:t>code</a:t>
            </a:r>
            <a:r>
              <a:rPr kumimoji="1" lang="ja-JP" altLang="en-US" sz="2000" dirty="0">
                <a:latin typeface="UD デジタル 教科書体 NK-R" panose="02020400000000000000" pitchFamily="18" charset="-128"/>
                <a:ea typeface="UD デジタル 教科書体 NK-R" panose="02020400000000000000" pitchFamily="18" charset="-128"/>
              </a:rPr>
              <a:t>が占めている。</a:t>
            </a:r>
            <a:endParaRPr kumimoji="1" lang="en-US" altLang="ja-JP" sz="2000" dirty="0">
              <a:latin typeface="UD デジタル 教科書体 NK-R" panose="02020400000000000000" pitchFamily="18" charset="-128"/>
              <a:ea typeface="UD デジタル 教科書体 NK-R" panose="02020400000000000000" pitchFamily="18" charset="-128"/>
            </a:endParaRPr>
          </a:p>
          <a:p>
            <a:pPr algn="l"/>
            <a:r>
              <a:rPr kumimoji="1" lang="ja-JP" altLang="en-US" sz="2000" dirty="0">
                <a:latin typeface="UD デジタル 教科書体 NK-R" panose="02020400000000000000" pitchFamily="18" charset="-128"/>
                <a:ea typeface="UD デジタル 教科書体 NK-R" panose="02020400000000000000" pitchFamily="18" charset="-128"/>
              </a:rPr>
              <a:t>設計が甘く</a:t>
            </a:r>
            <a:r>
              <a:rPr kumimoji="1" lang="en-US" altLang="ja-JP" sz="2000" dirty="0">
                <a:latin typeface="UD デジタル 教科書体 NK-R" panose="02020400000000000000" pitchFamily="18" charset="-128"/>
                <a:ea typeface="UD デジタル 教科書体 NK-R" panose="02020400000000000000" pitchFamily="18" charset="-128"/>
              </a:rPr>
              <a:t>code</a:t>
            </a:r>
            <a:r>
              <a:rPr kumimoji="1" lang="ja-JP" altLang="en-US" sz="2000" dirty="0">
                <a:latin typeface="UD デジタル 教科書体 NK-R" panose="02020400000000000000" pitchFamily="18" charset="-128"/>
                <a:ea typeface="UD デジタル 教科書体 NK-R" panose="02020400000000000000" pitchFamily="18" charset="-128"/>
              </a:rPr>
              <a:t>でロジックを考えなおす時間があることが問題である</a:t>
            </a:r>
          </a:p>
        </p:txBody>
      </p:sp>
      <p:pic>
        <p:nvPicPr>
          <p:cNvPr id="3" name="図 2">
            <a:extLst>
              <a:ext uri="{FF2B5EF4-FFF2-40B4-BE49-F238E27FC236}">
                <a16:creationId xmlns:a16="http://schemas.microsoft.com/office/drawing/2014/main" id="{61FD69BE-8F1D-61A1-C378-94BCDF5F0575}"/>
              </a:ext>
            </a:extLst>
          </p:cNvPr>
          <p:cNvPicPr>
            <a:picLocks noChangeAspect="1"/>
          </p:cNvPicPr>
          <p:nvPr/>
        </p:nvPicPr>
        <p:blipFill>
          <a:blip r:embed="rId2"/>
          <a:stretch>
            <a:fillRect/>
          </a:stretch>
        </p:blipFill>
        <p:spPr>
          <a:xfrm>
            <a:off x="1367761" y="1714284"/>
            <a:ext cx="6408478" cy="3785671"/>
          </a:xfrm>
          <a:prstGeom prst="rect">
            <a:avLst/>
          </a:prstGeom>
        </p:spPr>
      </p:pic>
    </p:spTree>
    <p:extLst>
      <p:ext uri="{BB962C8B-B14F-4D97-AF65-F5344CB8AC3E}">
        <p14:creationId xmlns:p14="http://schemas.microsoft.com/office/powerpoint/2010/main" val="24316207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5B0ECC-90BE-32CB-DA91-849D330D3B77}"/>
              </a:ext>
            </a:extLst>
          </p:cNvPr>
          <p:cNvSpPr>
            <a:spLocks noGrp="1"/>
          </p:cNvSpPr>
          <p:nvPr>
            <p:ph type="title"/>
          </p:nvPr>
        </p:nvSpPr>
        <p:spPr>
          <a:xfrm>
            <a:off x="556591" y="286604"/>
            <a:ext cx="7810169" cy="1450757"/>
          </a:xfrm>
        </p:spPr>
        <p:txBody>
          <a:bodyPr/>
          <a:lstStyle/>
          <a:p>
            <a:r>
              <a:rPr kumimoji="1" lang="en-US" altLang="ja-JP" dirty="0"/>
              <a:t>4.2</a:t>
            </a:r>
            <a:r>
              <a:rPr kumimoji="1" lang="ja-JP" altLang="en-US" dirty="0"/>
              <a:t>　</a:t>
            </a:r>
            <a:r>
              <a:rPr lang="ja-JP" altLang="en-US" dirty="0"/>
              <a:t>各フェーズ時間割合</a:t>
            </a:r>
            <a:r>
              <a:rPr lang="en-US" altLang="ja-JP" dirty="0"/>
              <a:t>(%)</a:t>
            </a:r>
            <a:endParaRPr kumimoji="1" lang="ja-JP" altLang="en-US" dirty="0"/>
          </a:p>
        </p:txBody>
      </p:sp>
      <p:pic>
        <p:nvPicPr>
          <p:cNvPr id="7" name="コンテンツ プレースホルダー 6" descr="グラフ, 円グラフ&#10;&#10;AI 生成コンテンツは誤りを含む可能性があります。">
            <a:extLst>
              <a:ext uri="{FF2B5EF4-FFF2-40B4-BE49-F238E27FC236}">
                <a16:creationId xmlns:a16="http://schemas.microsoft.com/office/drawing/2014/main" id="{216B8EFC-1E1D-B36D-9142-796E60AF50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1760" y="1737361"/>
            <a:ext cx="6088962" cy="3657797"/>
          </a:xfrm>
        </p:spPr>
      </p:pic>
      <p:sp>
        <p:nvSpPr>
          <p:cNvPr id="4" name="日付プレースホルダー 3">
            <a:extLst>
              <a:ext uri="{FF2B5EF4-FFF2-40B4-BE49-F238E27FC236}">
                <a16:creationId xmlns:a16="http://schemas.microsoft.com/office/drawing/2014/main" id="{9DF4ABFB-6C8A-E2EE-84FC-7AC26D5803DC}"/>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F30D71E5-AEC2-CC87-60E9-C50CEE138F22}"/>
              </a:ext>
            </a:extLst>
          </p:cNvPr>
          <p:cNvSpPr>
            <a:spLocks noGrp="1"/>
          </p:cNvSpPr>
          <p:nvPr>
            <p:ph type="sldNum" sz="quarter" idx="12"/>
          </p:nvPr>
        </p:nvSpPr>
        <p:spPr/>
        <p:txBody>
          <a:bodyPr/>
          <a:lstStyle/>
          <a:p>
            <a:fld id="{19A2C8B9-04F9-4575-A401-B86E4A91B12C}" type="slidenum">
              <a:rPr kumimoji="1" lang="ja-JP" altLang="en-US" smtClean="0"/>
              <a:pPr/>
              <a:t>24</a:t>
            </a:fld>
            <a:endParaRPr kumimoji="1" lang="ja-JP" altLang="en-US"/>
          </a:p>
        </p:txBody>
      </p:sp>
      <p:sp>
        <p:nvSpPr>
          <p:cNvPr id="3" name="テキスト ボックス 2">
            <a:extLst>
              <a:ext uri="{FF2B5EF4-FFF2-40B4-BE49-F238E27FC236}">
                <a16:creationId xmlns:a16="http://schemas.microsoft.com/office/drawing/2014/main" id="{917371AC-4C63-DEB5-52FB-8C64BD9B9BA9}"/>
              </a:ext>
            </a:extLst>
          </p:cNvPr>
          <p:cNvSpPr txBox="1"/>
          <p:nvPr/>
        </p:nvSpPr>
        <p:spPr>
          <a:xfrm>
            <a:off x="220337" y="5395158"/>
            <a:ext cx="9010800" cy="954107"/>
          </a:xfrm>
          <a:prstGeom prst="rect">
            <a:avLst/>
          </a:prstGeom>
          <a:noFill/>
        </p:spPr>
        <p:txBody>
          <a:bodyPr wrap="none" rtlCol="0">
            <a:spAutoFit/>
          </a:bodyPr>
          <a:lstStyle/>
          <a:p>
            <a:pPr algn="l"/>
            <a:r>
              <a:rPr kumimoji="1" lang="ja-JP" altLang="en-US" sz="2800" dirty="0">
                <a:latin typeface="UD デジタル 教科書体 NK-R" panose="02020400000000000000" pitchFamily="18" charset="-128"/>
                <a:ea typeface="UD デジタル 教科書体 NK-R" panose="02020400000000000000" pitchFamily="18" charset="-128"/>
              </a:rPr>
              <a:t>この視点からだと、予防的活動</a:t>
            </a:r>
            <a:r>
              <a:rPr kumimoji="1" lang="en-US" altLang="ja-JP" sz="2800" dirty="0">
                <a:latin typeface="UD デジタル 教科書体 NK-R" panose="02020400000000000000" pitchFamily="18" charset="-128"/>
                <a:ea typeface="UD デジタル 教科書体 NK-R" panose="02020400000000000000" pitchFamily="18" charset="-128"/>
              </a:rPr>
              <a:t>/</a:t>
            </a:r>
            <a:r>
              <a:rPr kumimoji="1" lang="ja-JP" altLang="en-US" sz="2800" dirty="0">
                <a:latin typeface="UD デジタル 教科書体 NK-R" panose="02020400000000000000" pitchFamily="18" charset="-128"/>
                <a:ea typeface="UD デジタル 教科書体 NK-R" panose="02020400000000000000" pitchFamily="18" charset="-128"/>
              </a:rPr>
              <a:t>是正的活動＞２となっており</a:t>
            </a:r>
            <a:endParaRPr kumimoji="1" lang="en-US" altLang="ja-JP" sz="2800" dirty="0">
              <a:latin typeface="UD デジタル 教科書体 NK-R" panose="02020400000000000000" pitchFamily="18" charset="-128"/>
              <a:ea typeface="UD デジタル 教科書体 NK-R" panose="02020400000000000000" pitchFamily="18" charset="-128"/>
            </a:endParaRPr>
          </a:p>
          <a:p>
            <a:pPr algn="l"/>
            <a:r>
              <a:rPr kumimoji="1" lang="ja-JP" altLang="en-US" sz="2800" dirty="0">
                <a:latin typeface="UD デジタル 教科書体 NK-R" panose="02020400000000000000" pitchFamily="18" charset="-128"/>
                <a:ea typeface="UD デジタル 教科書体 NK-R" panose="02020400000000000000" pitchFamily="18" charset="-128"/>
              </a:rPr>
              <a:t>比較的前工程で作業の多くを終わらせられているともとれる</a:t>
            </a:r>
          </a:p>
        </p:txBody>
      </p:sp>
    </p:spTree>
    <p:extLst>
      <p:ext uri="{BB962C8B-B14F-4D97-AF65-F5344CB8AC3E}">
        <p14:creationId xmlns:p14="http://schemas.microsoft.com/office/powerpoint/2010/main" val="3263099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4EE131-29DD-043D-773E-C491FCECDE3F}"/>
              </a:ext>
            </a:extLst>
          </p:cNvPr>
          <p:cNvSpPr>
            <a:spLocks noGrp="1"/>
          </p:cNvSpPr>
          <p:nvPr>
            <p:ph type="title"/>
          </p:nvPr>
        </p:nvSpPr>
        <p:spPr>
          <a:xfrm>
            <a:off x="643688" y="286604"/>
            <a:ext cx="8055143" cy="1450757"/>
          </a:xfrm>
        </p:spPr>
        <p:txBody>
          <a:bodyPr/>
          <a:lstStyle/>
          <a:p>
            <a:r>
              <a:rPr kumimoji="1" lang="ja-JP" altLang="en-US" dirty="0"/>
              <a:t>フェーズ時間割合に対する考察</a:t>
            </a:r>
          </a:p>
        </p:txBody>
      </p:sp>
      <p:sp>
        <p:nvSpPr>
          <p:cNvPr id="3" name="コンテンツ プレースホルダー 2">
            <a:extLst>
              <a:ext uri="{FF2B5EF4-FFF2-40B4-BE49-F238E27FC236}">
                <a16:creationId xmlns:a16="http://schemas.microsoft.com/office/drawing/2014/main" id="{50CEF954-EE1B-3CD5-1C84-E054496F85C1}"/>
              </a:ext>
            </a:extLst>
          </p:cNvPr>
          <p:cNvSpPr>
            <a:spLocks noGrp="1"/>
          </p:cNvSpPr>
          <p:nvPr>
            <p:ph idx="1"/>
          </p:nvPr>
        </p:nvSpPr>
        <p:spPr/>
        <p:txBody>
          <a:bodyPr/>
          <a:lstStyle/>
          <a:p>
            <a:pPr marL="0" indent="0">
              <a:buNone/>
            </a:pPr>
            <a:r>
              <a:rPr kumimoji="1" lang="en-US" altLang="ja-JP" dirty="0"/>
              <a:t>4.1,4.2</a:t>
            </a:r>
            <a:r>
              <a:rPr kumimoji="1" lang="ja-JP" altLang="en-US" dirty="0"/>
              <a:t>より、</a:t>
            </a:r>
            <a:r>
              <a:rPr kumimoji="1" lang="en-US" altLang="ja-JP" dirty="0"/>
              <a:t>c</a:t>
            </a:r>
            <a:r>
              <a:rPr lang="en-US" altLang="ja-JP" dirty="0"/>
              <a:t>ode</a:t>
            </a:r>
            <a:r>
              <a:rPr lang="ja-JP" altLang="en-US" dirty="0"/>
              <a:t>に時間をかけることで、是正的活動にかける時間の割合が低くなっている。</a:t>
            </a:r>
            <a:endParaRPr lang="en-US" altLang="ja-JP" dirty="0"/>
          </a:p>
          <a:p>
            <a:pPr marL="0" indent="0">
              <a:buNone/>
            </a:pPr>
            <a:r>
              <a:rPr lang="ja-JP" altLang="en-US" dirty="0"/>
              <a:t>しかし、</a:t>
            </a:r>
            <a:r>
              <a:rPr lang="en-US" altLang="ja-JP" dirty="0"/>
              <a:t>code</a:t>
            </a:r>
            <a:r>
              <a:rPr lang="ja-JP" altLang="en-US" dirty="0"/>
              <a:t>でロジックを考えている時間があるので</a:t>
            </a:r>
            <a:r>
              <a:rPr lang="en-US" altLang="ja-JP" dirty="0"/>
              <a:t>code</a:t>
            </a:r>
            <a:r>
              <a:rPr lang="ja-JP" altLang="en-US" dirty="0"/>
              <a:t>に時間をかけすぎるのではなく</a:t>
            </a:r>
            <a:r>
              <a:rPr lang="en-US" altLang="ja-JP" dirty="0"/>
              <a:t>design</a:t>
            </a:r>
            <a:r>
              <a:rPr lang="ja-JP" altLang="en-US" dirty="0"/>
              <a:t>で実装が一意に定まるように詳細に設計する必要がある。</a:t>
            </a:r>
            <a:endParaRPr kumimoji="1" lang="ja-JP" altLang="en-US" dirty="0"/>
          </a:p>
        </p:txBody>
      </p:sp>
      <p:sp>
        <p:nvSpPr>
          <p:cNvPr id="4" name="日付プレースホルダー 3">
            <a:extLst>
              <a:ext uri="{FF2B5EF4-FFF2-40B4-BE49-F238E27FC236}">
                <a16:creationId xmlns:a16="http://schemas.microsoft.com/office/drawing/2014/main" id="{E220F5AB-D114-942A-B506-48FF39C32A8F}"/>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4AF30DCB-FC33-BE0C-5059-D87CBC2DAF76}"/>
              </a:ext>
            </a:extLst>
          </p:cNvPr>
          <p:cNvSpPr>
            <a:spLocks noGrp="1"/>
          </p:cNvSpPr>
          <p:nvPr>
            <p:ph type="sldNum" sz="quarter" idx="12"/>
          </p:nvPr>
        </p:nvSpPr>
        <p:spPr/>
        <p:txBody>
          <a:bodyPr/>
          <a:lstStyle/>
          <a:p>
            <a:fld id="{19A2C8B9-04F9-4575-A401-B86E4A91B12C}" type="slidenum">
              <a:rPr kumimoji="1" lang="ja-JP" altLang="en-US" smtClean="0"/>
              <a:pPr/>
              <a:t>25</a:t>
            </a:fld>
            <a:endParaRPr kumimoji="1" lang="ja-JP" altLang="en-US"/>
          </a:p>
        </p:txBody>
      </p:sp>
    </p:spTree>
    <p:extLst>
      <p:ext uri="{BB962C8B-B14F-4D97-AF65-F5344CB8AC3E}">
        <p14:creationId xmlns:p14="http://schemas.microsoft.com/office/powerpoint/2010/main" val="15826212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907506-DAFB-546C-DC05-35A2DD0F70E1}"/>
              </a:ext>
            </a:extLst>
          </p:cNvPr>
          <p:cNvSpPr>
            <a:spLocks noGrp="1"/>
          </p:cNvSpPr>
          <p:nvPr>
            <p:ph type="title"/>
          </p:nvPr>
        </p:nvSpPr>
        <p:spPr/>
        <p:txBody>
          <a:bodyPr/>
          <a:lstStyle/>
          <a:p>
            <a:r>
              <a:rPr kumimoji="1" lang="en-US" altLang="ja-JP" dirty="0"/>
              <a:t>4.3 1000</a:t>
            </a:r>
            <a:r>
              <a:rPr kumimoji="1" lang="ja-JP" altLang="en-US" dirty="0"/>
              <a:t>時間書くとしたら</a:t>
            </a:r>
            <a:r>
              <a:rPr kumimoji="1" lang="en-US" altLang="ja-JP" dirty="0"/>
              <a:t>?</a:t>
            </a:r>
            <a:endParaRPr kumimoji="1" lang="ja-JP" altLang="en-US" dirty="0"/>
          </a:p>
        </p:txBody>
      </p:sp>
      <p:graphicFrame>
        <p:nvGraphicFramePr>
          <p:cNvPr id="6" name="コンテンツ プレースホルダー 5">
            <a:extLst>
              <a:ext uri="{FF2B5EF4-FFF2-40B4-BE49-F238E27FC236}">
                <a16:creationId xmlns:a16="http://schemas.microsoft.com/office/drawing/2014/main" id="{8D8F1788-2D6B-C05A-D661-48296D513F2E}"/>
              </a:ext>
            </a:extLst>
          </p:cNvPr>
          <p:cNvGraphicFramePr>
            <a:graphicFrameLocks noGrp="1"/>
          </p:cNvGraphicFramePr>
          <p:nvPr>
            <p:ph idx="1"/>
            <p:extLst>
              <p:ext uri="{D42A27DB-BD31-4B8C-83A1-F6EECF244321}">
                <p14:modId xmlns:p14="http://schemas.microsoft.com/office/powerpoint/2010/main" val="1280793581"/>
              </p:ext>
            </p:extLst>
          </p:nvPr>
        </p:nvGraphicFramePr>
        <p:xfrm>
          <a:off x="822325" y="2100263"/>
          <a:ext cx="7543800" cy="1747520"/>
        </p:xfrm>
        <a:graphic>
          <a:graphicData uri="http://schemas.openxmlformats.org/drawingml/2006/table">
            <a:tbl>
              <a:tblPr firstRow="1" bandRow="1">
                <a:tableStyleId>{2D5ABB26-0587-4C30-8999-92F81FD0307C}</a:tableStyleId>
              </a:tblPr>
              <a:tblGrid>
                <a:gridCol w="2514600">
                  <a:extLst>
                    <a:ext uri="{9D8B030D-6E8A-4147-A177-3AD203B41FA5}">
                      <a16:colId xmlns:a16="http://schemas.microsoft.com/office/drawing/2014/main" val="1794284868"/>
                    </a:ext>
                  </a:extLst>
                </a:gridCol>
                <a:gridCol w="2514600">
                  <a:extLst>
                    <a:ext uri="{9D8B030D-6E8A-4147-A177-3AD203B41FA5}">
                      <a16:colId xmlns:a16="http://schemas.microsoft.com/office/drawing/2014/main" val="3047504051"/>
                    </a:ext>
                  </a:extLst>
                </a:gridCol>
                <a:gridCol w="2514600">
                  <a:extLst>
                    <a:ext uri="{9D8B030D-6E8A-4147-A177-3AD203B41FA5}">
                      <a16:colId xmlns:a16="http://schemas.microsoft.com/office/drawing/2014/main" val="2189380829"/>
                    </a:ext>
                  </a:extLst>
                </a:gridCol>
              </a:tblGrid>
              <a:tr h="0">
                <a:tc>
                  <a:txBody>
                    <a:bodyPr/>
                    <a:lstStyle/>
                    <a:p>
                      <a:r>
                        <a:rPr kumimoji="1" lang="ja-JP" altLang="en-US" dirty="0"/>
                        <a:t>フェーズ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割合</a:t>
                      </a:r>
                      <a:r>
                        <a:rPr kumimoji="1" lang="en-US" altLang="ja-JP" dirty="0"/>
                        <a:t>(%)</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X=1000</a:t>
                      </a:r>
                      <a:r>
                        <a:rPr kumimoji="1" lang="ja-JP" altLang="en-US" dirty="0"/>
                        <a:t>時間のうち何時間</a:t>
                      </a:r>
                      <a:r>
                        <a:rPr kumimoji="1" lang="en-US" altLang="ja-JP" dirty="0"/>
                        <a:t>?(h)</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7149463"/>
                  </a:ext>
                </a:extLst>
              </a:tr>
              <a:tr h="0">
                <a:tc>
                  <a:txBody>
                    <a:bodyPr/>
                    <a:lstStyle/>
                    <a:p>
                      <a:r>
                        <a:rPr kumimoji="1" lang="en-US" altLang="ja-JP" dirty="0"/>
                        <a:t>Design</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800" dirty="0">
                          <a:latin typeface="UD デジタル 教科書体 NK-R" panose="02020400000000000000" pitchFamily="18" charset="-128"/>
                          <a:ea typeface="UD デジタル 教科書体 NK-R" panose="02020400000000000000" pitchFamily="18" charset="-128"/>
                        </a:rPr>
                        <a:t>10.643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106.43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0794172"/>
                  </a:ext>
                </a:extLst>
              </a:tr>
              <a:tr h="370840">
                <a:tc>
                  <a:txBody>
                    <a:bodyPr/>
                    <a:lstStyle/>
                    <a:p>
                      <a:r>
                        <a:rPr kumimoji="1" lang="en-US" altLang="ja-JP" dirty="0"/>
                        <a:t>Code</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800" dirty="0">
                          <a:latin typeface="UD デジタル 教科書体 NK-R" panose="02020400000000000000" pitchFamily="18" charset="-128"/>
                          <a:ea typeface="UD デジタル 教科書体 NK-R" panose="02020400000000000000" pitchFamily="18" charset="-128"/>
                        </a:rPr>
                        <a:t>31.149</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311.49</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1479381"/>
                  </a:ext>
                </a:extLst>
              </a:tr>
              <a:tr h="370840">
                <a:tc>
                  <a:txBody>
                    <a:bodyPr/>
                    <a:lstStyle/>
                    <a:p>
                      <a:r>
                        <a:rPr kumimoji="1" lang="en-US" altLang="ja-JP" dirty="0"/>
                        <a:t>Test</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800" dirty="0">
                          <a:latin typeface="UD デジタル 教科書体 NK-R" panose="02020400000000000000" pitchFamily="18" charset="-128"/>
                          <a:ea typeface="UD デジタル 教科書体 NK-R" panose="02020400000000000000" pitchFamily="18" charset="-128"/>
                        </a:rPr>
                        <a:t>10.343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t>103.43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6509178"/>
                  </a:ext>
                </a:extLst>
              </a:tr>
            </a:tbl>
          </a:graphicData>
        </a:graphic>
      </p:graphicFrame>
      <p:sp>
        <p:nvSpPr>
          <p:cNvPr id="4" name="日付プレースホルダー 3">
            <a:extLst>
              <a:ext uri="{FF2B5EF4-FFF2-40B4-BE49-F238E27FC236}">
                <a16:creationId xmlns:a16="http://schemas.microsoft.com/office/drawing/2014/main" id="{CD2874EC-55C9-EC7E-A741-7F7B3DF044F5}"/>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CD9FC938-45D6-995D-7AE1-8BECA75FFC03}"/>
              </a:ext>
            </a:extLst>
          </p:cNvPr>
          <p:cNvSpPr>
            <a:spLocks noGrp="1"/>
          </p:cNvSpPr>
          <p:nvPr>
            <p:ph type="sldNum" sz="quarter" idx="12"/>
          </p:nvPr>
        </p:nvSpPr>
        <p:spPr/>
        <p:txBody>
          <a:bodyPr/>
          <a:lstStyle/>
          <a:p>
            <a:fld id="{19A2C8B9-04F9-4575-A401-B86E4A91B12C}" type="slidenum">
              <a:rPr kumimoji="1" lang="ja-JP" altLang="en-US" smtClean="0"/>
              <a:pPr/>
              <a:t>26</a:t>
            </a:fld>
            <a:endParaRPr kumimoji="1" lang="ja-JP" altLang="en-US"/>
          </a:p>
        </p:txBody>
      </p:sp>
      <p:sp>
        <p:nvSpPr>
          <p:cNvPr id="7" name="テキスト ボックス 6">
            <a:extLst>
              <a:ext uri="{FF2B5EF4-FFF2-40B4-BE49-F238E27FC236}">
                <a16:creationId xmlns:a16="http://schemas.microsoft.com/office/drawing/2014/main" id="{CD1BB8F8-64F9-80D8-3C3A-76E9F7377A11}"/>
              </a:ext>
            </a:extLst>
          </p:cNvPr>
          <p:cNvSpPr txBox="1"/>
          <p:nvPr/>
        </p:nvSpPr>
        <p:spPr>
          <a:xfrm>
            <a:off x="755374" y="4210685"/>
            <a:ext cx="2906565" cy="523220"/>
          </a:xfrm>
          <a:prstGeom prst="rect">
            <a:avLst/>
          </a:prstGeom>
          <a:noFill/>
        </p:spPr>
        <p:txBody>
          <a:bodyPr wrap="none" rtlCol="0">
            <a:spAutoFit/>
          </a:bodyPr>
          <a:lstStyle/>
          <a:p>
            <a:pPr algn="l"/>
            <a:r>
              <a:rPr kumimoji="1" lang="ja-JP" altLang="en-US" sz="2800" dirty="0">
                <a:latin typeface="UD デジタル 教科書体 NK-R" panose="02020400000000000000" pitchFamily="18" charset="-128"/>
                <a:ea typeface="UD デジタル 教科書体 NK-R" panose="02020400000000000000" pitchFamily="18" charset="-128"/>
              </a:rPr>
              <a:t>計算式：割合</a:t>
            </a:r>
            <a:r>
              <a:rPr kumimoji="1" lang="en-US" altLang="ja-JP" sz="2800" dirty="0">
                <a:latin typeface="UD デジタル 教科書体 NK-R" panose="02020400000000000000" pitchFamily="18" charset="-128"/>
                <a:ea typeface="UD デジタル 教科書体 NK-R" panose="02020400000000000000" pitchFamily="18" charset="-128"/>
              </a:rPr>
              <a:t>×10</a:t>
            </a:r>
            <a:endParaRPr kumimoji="1" lang="ja-JP" altLang="en-US" sz="2800" dirty="0">
              <a:latin typeface="UD デジタル 教科書体 NK-R" panose="02020400000000000000" pitchFamily="18" charset="-128"/>
              <a:ea typeface="UD デジタル 教科書体 NK-R" panose="02020400000000000000" pitchFamily="18" charset="-128"/>
            </a:endParaRPr>
          </a:p>
        </p:txBody>
      </p:sp>
    </p:spTree>
    <p:extLst>
      <p:ext uri="{BB962C8B-B14F-4D97-AF65-F5344CB8AC3E}">
        <p14:creationId xmlns:p14="http://schemas.microsoft.com/office/powerpoint/2010/main" val="18441093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0D509A-DCCB-C303-42F2-8B15692F289C}"/>
              </a:ext>
            </a:extLst>
          </p:cNvPr>
          <p:cNvSpPr>
            <a:spLocks noGrp="1"/>
          </p:cNvSpPr>
          <p:nvPr>
            <p:ph type="title"/>
          </p:nvPr>
        </p:nvSpPr>
        <p:spPr>
          <a:xfrm>
            <a:off x="318052" y="286604"/>
            <a:ext cx="8048708" cy="1450757"/>
          </a:xfrm>
        </p:spPr>
        <p:txBody>
          <a:bodyPr>
            <a:normAutofit/>
          </a:bodyPr>
          <a:lstStyle/>
          <a:p>
            <a:r>
              <a:rPr kumimoji="1" lang="en-US" altLang="ja-JP" sz="3600" dirty="0"/>
              <a:t>4.4 1000</a:t>
            </a:r>
            <a:r>
              <a:rPr kumimoji="1" lang="ja-JP" altLang="en-US" sz="3600" dirty="0"/>
              <a:t>時間書いた時の</a:t>
            </a:r>
            <a:r>
              <a:rPr kumimoji="1" lang="en-US" altLang="ja-JP" sz="3600" dirty="0"/>
              <a:t>LOC</a:t>
            </a:r>
            <a:r>
              <a:rPr kumimoji="1" lang="ja-JP" altLang="en-US" sz="3600" dirty="0"/>
              <a:t>と欠陥数</a:t>
            </a:r>
          </a:p>
        </p:txBody>
      </p:sp>
      <p:sp>
        <p:nvSpPr>
          <p:cNvPr id="3" name="コンテンツ プレースホルダー 2">
            <a:extLst>
              <a:ext uri="{FF2B5EF4-FFF2-40B4-BE49-F238E27FC236}">
                <a16:creationId xmlns:a16="http://schemas.microsoft.com/office/drawing/2014/main" id="{C7753600-086C-93C8-C770-8DE09292D67B}"/>
              </a:ext>
            </a:extLst>
          </p:cNvPr>
          <p:cNvSpPr>
            <a:spLocks noGrp="1"/>
          </p:cNvSpPr>
          <p:nvPr>
            <p:ph idx="1"/>
          </p:nvPr>
        </p:nvSpPr>
        <p:spPr/>
        <p:txBody>
          <a:bodyPr/>
          <a:lstStyle/>
          <a:p>
            <a:pPr marL="0" indent="0">
              <a:buNone/>
            </a:pPr>
            <a:r>
              <a:rPr kumimoji="1" lang="ja-JP" altLang="en-US" dirty="0"/>
              <a:t>生産性：</a:t>
            </a:r>
            <a:r>
              <a:rPr kumimoji="1" lang="en-US" altLang="ja-JP" dirty="0"/>
              <a:t>13.38(LOC/h)</a:t>
            </a:r>
          </a:p>
          <a:p>
            <a:pPr marL="0" indent="0">
              <a:buNone/>
            </a:pPr>
            <a:r>
              <a:rPr kumimoji="1" lang="ja-JP" altLang="en-US" dirty="0"/>
              <a:t>テストの欠陥密度：</a:t>
            </a:r>
            <a:r>
              <a:rPr lang="en-US" altLang="ja-JP" dirty="0"/>
              <a:t> 43.1(</a:t>
            </a:r>
            <a:r>
              <a:rPr lang="ja-JP" altLang="en-US" dirty="0"/>
              <a:t>個</a:t>
            </a:r>
            <a:r>
              <a:rPr lang="en-US" altLang="ja-JP" dirty="0"/>
              <a:t>/KLOC)</a:t>
            </a:r>
            <a:endParaRPr lang="ja-JP" altLang="en-US" dirty="0"/>
          </a:p>
          <a:p>
            <a:pPr marL="0" indent="0">
              <a:buNone/>
            </a:pPr>
            <a:r>
              <a:rPr kumimoji="1" lang="ja-JP" altLang="en-US" dirty="0"/>
              <a:t>より、</a:t>
            </a:r>
            <a:endParaRPr kumimoji="1" lang="en-US" altLang="ja-JP" dirty="0"/>
          </a:p>
          <a:p>
            <a:pPr marL="0" indent="0">
              <a:buNone/>
            </a:pPr>
            <a:r>
              <a:rPr lang="en-US" altLang="ja-JP" dirty="0"/>
              <a:t>13.38×1000=13380(LOC)</a:t>
            </a:r>
          </a:p>
          <a:p>
            <a:pPr marL="0" indent="0">
              <a:buNone/>
            </a:pPr>
            <a:r>
              <a:rPr kumimoji="1" lang="en-US" altLang="ja-JP" dirty="0"/>
              <a:t>43.1</a:t>
            </a:r>
            <a:r>
              <a:rPr lang="en-US" altLang="ja-JP" dirty="0"/>
              <a:t>×13.38=576.678(</a:t>
            </a:r>
            <a:r>
              <a:rPr lang="ja-JP" altLang="en-US" dirty="0"/>
              <a:t>個</a:t>
            </a:r>
            <a:r>
              <a:rPr lang="en-US" altLang="ja-JP" dirty="0"/>
              <a:t>)</a:t>
            </a:r>
            <a:endParaRPr kumimoji="1" lang="en-US" altLang="ja-JP" dirty="0"/>
          </a:p>
          <a:p>
            <a:pPr marL="0" indent="0">
              <a:buNone/>
            </a:pPr>
            <a:endParaRPr kumimoji="1" lang="ja-JP" altLang="en-US" dirty="0"/>
          </a:p>
        </p:txBody>
      </p:sp>
      <p:sp>
        <p:nvSpPr>
          <p:cNvPr id="4" name="日付プレースホルダー 3">
            <a:extLst>
              <a:ext uri="{FF2B5EF4-FFF2-40B4-BE49-F238E27FC236}">
                <a16:creationId xmlns:a16="http://schemas.microsoft.com/office/drawing/2014/main" id="{79C75925-139E-C33E-6842-5B1ACF99D7A4}"/>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4A14D92B-9370-150D-E577-04F4E4B47152}"/>
              </a:ext>
            </a:extLst>
          </p:cNvPr>
          <p:cNvSpPr>
            <a:spLocks noGrp="1"/>
          </p:cNvSpPr>
          <p:nvPr>
            <p:ph type="sldNum" sz="quarter" idx="12"/>
          </p:nvPr>
        </p:nvSpPr>
        <p:spPr/>
        <p:txBody>
          <a:bodyPr/>
          <a:lstStyle/>
          <a:p>
            <a:fld id="{19A2C8B9-04F9-4575-A401-B86E4A91B12C}" type="slidenum">
              <a:rPr kumimoji="1" lang="ja-JP" altLang="en-US" smtClean="0"/>
              <a:pPr/>
              <a:t>27</a:t>
            </a:fld>
            <a:endParaRPr kumimoji="1" lang="ja-JP" altLang="en-US"/>
          </a:p>
        </p:txBody>
      </p:sp>
    </p:spTree>
    <p:extLst>
      <p:ext uri="{BB962C8B-B14F-4D97-AF65-F5344CB8AC3E}">
        <p14:creationId xmlns:p14="http://schemas.microsoft.com/office/powerpoint/2010/main" val="21628547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7274BB-3C12-145D-4C53-FA8E1D9A8A2E}"/>
              </a:ext>
            </a:extLst>
          </p:cNvPr>
          <p:cNvSpPr>
            <a:spLocks noGrp="1"/>
          </p:cNvSpPr>
          <p:nvPr>
            <p:ph type="title"/>
          </p:nvPr>
        </p:nvSpPr>
        <p:spPr/>
        <p:txBody>
          <a:bodyPr/>
          <a:lstStyle/>
          <a:p>
            <a:r>
              <a:rPr kumimoji="1" lang="ja-JP" altLang="en-US" dirty="0"/>
              <a:t>まとめ</a:t>
            </a:r>
          </a:p>
        </p:txBody>
      </p:sp>
      <p:sp>
        <p:nvSpPr>
          <p:cNvPr id="4" name="日付プレースホルダー 3">
            <a:extLst>
              <a:ext uri="{FF2B5EF4-FFF2-40B4-BE49-F238E27FC236}">
                <a16:creationId xmlns:a16="http://schemas.microsoft.com/office/drawing/2014/main" id="{BF169082-CF1F-B396-8539-2F7AB494996C}"/>
              </a:ext>
            </a:extLst>
          </p:cNvPr>
          <p:cNvSpPr>
            <a:spLocks noGrp="1"/>
          </p:cNvSpPr>
          <p:nvPr>
            <p:ph type="dt" sz="half" idx="10"/>
          </p:nvPr>
        </p:nvSpPr>
        <p:spPr/>
        <p:txBody>
          <a:bodyPr/>
          <a:lstStyle/>
          <a:p>
            <a:fld id="{0CA8898C-B20F-4092-A799-1486F93CB451}" type="datetime1">
              <a:rPr kumimoji="1" lang="ja-JP" altLang="en-US" smtClean="0"/>
              <a:t>2025/6/30</a:t>
            </a:fld>
            <a:endParaRPr kumimoji="1" lang="ja-JP" altLang="en-US" dirty="0"/>
          </a:p>
        </p:txBody>
      </p:sp>
      <p:sp>
        <p:nvSpPr>
          <p:cNvPr id="5" name="スライド番号プレースホルダー 4">
            <a:extLst>
              <a:ext uri="{FF2B5EF4-FFF2-40B4-BE49-F238E27FC236}">
                <a16:creationId xmlns:a16="http://schemas.microsoft.com/office/drawing/2014/main" id="{37087CAC-F034-1AB4-62B2-88F5E19408F9}"/>
              </a:ext>
            </a:extLst>
          </p:cNvPr>
          <p:cNvSpPr>
            <a:spLocks noGrp="1"/>
          </p:cNvSpPr>
          <p:nvPr>
            <p:ph type="sldNum" sz="quarter" idx="12"/>
          </p:nvPr>
        </p:nvSpPr>
        <p:spPr/>
        <p:txBody>
          <a:bodyPr/>
          <a:lstStyle/>
          <a:p>
            <a:fld id="{19A2C8B9-04F9-4575-A401-B86E4A91B12C}" type="slidenum">
              <a:rPr kumimoji="1" lang="ja-JP" altLang="en-US" smtClean="0"/>
              <a:pPr/>
              <a:t>28</a:t>
            </a:fld>
            <a:endParaRPr kumimoji="1" lang="ja-JP" altLang="en-US"/>
          </a:p>
        </p:txBody>
      </p:sp>
      <p:sp>
        <p:nvSpPr>
          <p:cNvPr id="9" name="テキスト ボックス 8">
            <a:extLst>
              <a:ext uri="{FF2B5EF4-FFF2-40B4-BE49-F238E27FC236}">
                <a16:creationId xmlns:a16="http://schemas.microsoft.com/office/drawing/2014/main" id="{EB15B60C-55A4-8CEC-898B-75EF7264FB64}"/>
              </a:ext>
            </a:extLst>
          </p:cNvPr>
          <p:cNvSpPr txBox="1"/>
          <p:nvPr/>
        </p:nvSpPr>
        <p:spPr>
          <a:xfrm>
            <a:off x="490287" y="1877523"/>
            <a:ext cx="8163426" cy="4062651"/>
          </a:xfrm>
          <a:prstGeom prst="rect">
            <a:avLst/>
          </a:prstGeom>
          <a:noFill/>
        </p:spPr>
        <p:txBody>
          <a:bodyPr wrap="square">
            <a:spAutoFit/>
          </a:bodyPr>
          <a:lstStyle/>
          <a:p>
            <a:pPr>
              <a:spcBef>
                <a:spcPts val="600"/>
              </a:spcBef>
              <a:spcAft>
                <a:spcPts val="1200"/>
              </a:spcAft>
            </a:pPr>
            <a:r>
              <a:rPr lang="ja-JP" altLang="en-US" sz="2800" b="1" dirty="0"/>
              <a:t>見積もり精度の向上</a:t>
            </a:r>
            <a:r>
              <a:rPr lang="en-US" altLang="ja-JP" sz="2800" dirty="0"/>
              <a:t>:	</a:t>
            </a:r>
            <a:r>
              <a:rPr lang="ja-JP" altLang="en-US" sz="2400" dirty="0"/>
              <a:t>ベースコード利用時も、追加・修正部分の規模を「プロキシの規模範囲」で詳細に見積もり、計画の精度を高める。</a:t>
            </a:r>
            <a:endParaRPr lang="en-US" altLang="ja-JP" sz="2400" dirty="0"/>
          </a:p>
          <a:p>
            <a:pPr>
              <a:spcBef>
                <a:spcPts val="600"/>
              </a:spcBef>
              <a:spcAft>
                <a:spcPts val="1200"/>
              </a:spcAft>
            </a:pPr>
            <a:r>
              <a:rPr lang="ja-JP" altLang="en-US" sz="2800" b="1" dirty="0"/>
              <a:t>設計フェーズの強化</a:t>
            </a:r>
            <a:r>
              <a:rPr lang="en-US" altLang="ja-JP" sz="2800" dirty="0"/>
              <a:t>: </a:t>
            </a:r>
            <a:r>
              <a:rPr lang="en-US" altLang="ja-JP" sz="2400" dirty="0"/>
              <a:t>design</a:t>
            </a:r>
            <a:r>
              <a:rPr lang="ja-JP" altLang="en-US" sz="2400" dirty="0"/>
              <a:t>で実装を一意に定める詳細設計を徹底し、</a:t>
            </a:r>
            <a:r>
              <a:rPr lang="en-US" altLang="ja-JP" sz="2400" dirty="0"/>
              <a:t>code</a:t>
            </a:r>
            <a:r>
              <a:rPr lang="ja-JP" altLang="en-US" sz="2400" dirty="0"/>
              <a:t>でのロジック検討時間や欠陥埋め込みを削減する。</a:t>
            </a:r>
            <a:endParaRPr lang="en-US" altLang="ja-JP" sz="2400" dirty="0"/>
          </a:p>
          <a:p>
            <a:pPr>
              <a:spcBef>
                <a:spcPts val="600"/>
              </a:spcBef>
              <a:spcAft>
                <a:spcPts val="1200"/>
              </a:spcAft>
            </a:pPr>
            <a:r>
              <a:rPr lang="ja-JP" altLang="en-US" sz="2800" b="1" dirty="0"/>
              <a:t>欠陥除去の早期化</a:t>
            </a:r>
            <a:r>
              <a:rPr lang="en-US" altLang="ja-JP" sz="2800" dirty="0"/>
              <a:t>: </a:t>
            </a:r>
            <a:r>
              <a:rPr lang="en-US" altLang="ja-JP" sz="2400" dirty="0"/>
              <a:t>design</a:t>
            </a:r>
            <a:r>
              <a:rPr lang="ja-JP" altLang="en-US" sz="2400" dirty="0"/>
              <a:t>でのレビュー強化と、</a:t>
            </a:r>
            <a:r>
              <a:rPr lang="en-US" altLang="ja-JP" sz="2400" dirty="0"/>
              <a:t>code</a:t>
            </a:r>
            <a:r>
              <a:rPr lang="ja-JP" altLang="en-US" sz="2400" dirty="0"/>
              <a:t>での自己チェック徹底により、特に</a:t>
            </a:r>
            <a:r>
              <a:rPr lang="en-US" altLang="ja-JP" sz="2400" dirty="0"/>
              <a:t>syntax</a:t>
            </a:r>
            <a:r>
              <a:rPr lang="ja-JP" altLang="en-US" sz="2400" dirty="0"/>
              <a:t>欠陥の予防的活動での早期発見・除去を促進する。</a:t>
            </a:r>
          </a:p>
        </p:txBody>
      </p:sp>
    </p:spTree>
    <p:extLst>
      <p:ext uri="{BB962C8B-B14F-4D97-AF65-F5344CB8AC3E}">
        <p14:creationId xmlns:p14="http://schemas.microsoft.com/office/powerpoint/2010/main" val="2652272394"/>
      </p:ext>
    </p:extLst>
  </p:cSld>
  <p:clrMapOvr>
    <a:masterClrMapping/>
  </p:clrMapOvr>
</p:sld>
</file>

<file path=ppt/theme/theme1.xml><?xml version="1.0" encoding="utf-8"?>
<a:theme xmlns:a="http://schemas.openxmlformats.org/drawingml/2006/main" name="レトロスペクト">
  <a:themeElements>
    <a:clrScheme name="グレースケール">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レトロスペクト">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レトロスペクト">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txDef>
      <a:spPr>
        <a:noFill/>
      </a:spPr>
      <a:bodyPr wrap="square" rtlCol="0">
        <a:spAutoFit/>
      </a:bodyPr>
      <a:lstStyle>
        <a:defPPr algn="l">
          <a:defRPr kumimoji="1" sz="2800" dirty="0" smtClean="0">
            <a:latin typeface="UD デジタル 教科書体 NK-R" panose="02020400000000000000" pitchFamily="18" charset="-128"/>
            <a:ea typeface="UD デジタル 教科書体 NK-R" panose="02020400000000000000" pitchFamily="18" charset="-128"/>
          </a:defRPr>
        </a:defPPr>
      </a:lstStyle>
    </a:txDef>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7891</TotalTime>
  <Words>1268</Words>
  <Application>Microsoft Office PowerPoint</Application>
  <PresentationFormat>画面に合わせる (4:3)</PresentationFormat>
  <Paragraphs>300</Paragraphs>
  <Slides>28</Slides>
  <Notes>1</Notes>
  <HiddenSlides>1</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28</vt:i4>
      </vt:variant>
    </vt:vector>
  </HeadingPairs>
  <TitlesOfParts>
    <vt:vector size="33" baseType="lpstr">
      <vt:lpstr>UD デジタル 教科書体 NK-R</vt:lpstr>
      <vt:lpstr>游ゴシック</vt:lpstr>
      <vt:lpstr>Arial</vt:lpstr>
      <vt:lpstr>Calibri</vt:lpstr>
      <vt:lpstr>レトロスペクト</vt:lpstr>
      <vt:lpstr>PSP中間レポート</vt:lpstr>
      <vt:lpstr>1.1 実績規模(LOC)</vt:lpstr>
      <vt:lpstr>1.1 実績規模グラフ</vt:lpstr>
      <vt:lpstr>1.2,1.3 規模見積もり誤差(%)</vt:lpstr>
      <vt:lpstr>1.2,1.3 規模見積もり誤差グラフ</vt:lpstr>
      <vt:lpstr>規模見積もり誤差の原因と改善</vt:lpstr>
      <vt:lpstr>2.1 実績時間(h)</vt:lpstr>
      <vt:lpstr>2.1 実績時間グラフ</vt:lpstr>
      <vt:lpstr>2.2,2.3 時間見積もり誤差(%)</vt:lpstr>
      <vt:lpstr>2.2,2.3 時間見積もり誤差グラフ</vt:lpstr>
      <vt:lpstr>時間見積もりの誤差の原因と改善</vt:lpstr>
      <vt:lpstr>2.4 生産性(LOC/h)</vt:lpstr>
      <vt:lpstr>2.4 生産性グラフ</vt:lpstr>
      <vt:lpstr>生産性に対する考察</vt:lpstr>
      <vt:lpstr>3.1 欠陥数(個)</vt:lpstr>
      <vt:lpstr>3.1 欠陥数グラフ</vt:lpstr>
      <vt:lpstr>3.2 欠陥密度(個/KLOC)</vt:lpstr>
      <vt:lpstr>3.3 コンパイルで時間を費やす欠陥型</vt:lpstr>
      <vt:lpstr>3.3 テストで時間を費やす欠陥型</vt:lpstr>
      <vt:lpstr>3.4-1 各欠陥型が埋め込まれるフェーズ</vt:lpstr>
      <vt:lpstr>3.4-2 各欠陥型が埋め込まれるフェーズ</vt:lpstr>
      <vt:lpstr>PowerPoint プレゼンテーション</vt:lpstr>
      <vt:lpstr>4.1 各フェーズの時間割合(%)</vt:lpstr>
      <vt:lpstr>4.2　各フェーズ時間割合(%)</vt:lpstr>
      <vt:lpstr>フェーズ時間割合に対する考察</vt:lpstr>
      <vt:lpstr>4.3 1000時間書くとしたら?</vt:lpstr>
      <vt:lpstr>4.4 1000時間書いた時のLOCと欠陥数</vt:lpstr>
      <vt:lpstr>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要約発表</dc:title>
  <dc:creator>MITOME Shintaro</dc:creator>
  <cp:lastModifiedBy>MITOME Shintaro</cp:lastModifiedBy>
  <cp:revision>87</cp:revision>
  <cp:lastPrinted>2025-06-23T13:23:53Z</cp:lastPrinted>
  <dcterms:created xsi:type="dcterms:W3CDTF">2024-04-13T02:40:29Z</dcterms:created>
  <dcterms:modified xsi:type="dcterms:W3CDTF">2025-06-30T05:32:10Z</dcterms:modified>
</cp:coreProperties>
</file>